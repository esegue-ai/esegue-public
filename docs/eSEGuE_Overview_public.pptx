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2" r:id="rId7"/>
    <p:sldId id="263" r:id="rId8"/>
    <p:sldId id="267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48EF-3F19-918F-1203-9B91E276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9B242-F946-E142-B259-A89888692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CA941-F814-CCB1-B7CA-55E751723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D6376-6A03-6ECA-87DD-0CDB0996EE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5856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243AF-43A9-C2EC-611B-F63A9C3A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8828-2442-17AA-C189-57B6305F0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A0FCF-5C41-3C0C-C8CC-5C183E187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D4D5D-9027-3B9B-9758-CAB77A82C3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3920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1D9BC84-4951-F63C-0C4B-98082BE93CD3}"/>
              </a:ext>
            </a:extLst>
          </p:cNvPr>
          <p:cNvSpPr>
            <a:spLocks noGrp="1"/>
          </p:cNvSpPr>
          <p:nvPr/>
        </p:nvSpPr>
        <p:spPr>
          <a:xfrm>
            <a:off x="5844350" y="63500"/>
            <a:ext cx="531812" cy="12192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l">
              <a:buNone/>
            </a:pPr>
            <a:r>
              <a:rPr sz="800">
                <a:solidFill>
                  <a:srgbClr val="000000">
                    <a:alpha val="50000"/>
                  </a:srgbClr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619D764-ACB3-973B-2889-7D7BE1729BB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44350" y="63500"/>
            <a:ext cx="5318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499F5-E980-E7D6-DC0D-4D2DF5DF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tangolo 30">
            <a:extLst>
              <a:ext uri="{FF2B5EF4-FFF2-40B4-BE49-F238E27FC236}">
                <a16:creationId xmlns:a16="http://schemas.microsoft.com/office/drawing/2014/main" id="{EE3DEB78-A489-E72A-F5BE-A5F42DA1550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SYSTEM OVERVIEW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B507D6E4-7819-CAB0-F175-0B3BD65FFF8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System overview | 9 July 2026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EEBBBF7-B5A4-C593-5F5D-A0FB579943C4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01</a:t>
            </a:r>
          </a:p>
        </p:txBody>
      </p:sp>
      <p:pic>
        <p:nvPicPr>
          <p:cNvPr id="63" name="Immagine 62">
            <a:extLst>
              <a:ext uri="{FF2B5EF4-FFF2-40B4-BE49-F238E27FC236}">
                <a16:creationId xmlns:a16="http://schemas.microsoft.com/office/drawing/2014/main" id="{473C1533-9F94-0FC1-17CE-B1B919B98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C415212-27B4-4D31-1099-990606E16EE6}"/>
              </a:ext>
            </a:extLst>
          </p:cNvPr>
          <p:cNvSpPr txBox="1"/>
          <p:nvPr/>
        </p:nvSpPr>
        <p:spPr>
          <a:xfrm>
            <a:off x="1125416" y="1978270"/>
            <a:ext cx="9569478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sz="7200" b="1" dirty="0" err="1">
                <a:solidFill>
                  <a:schemeClr val="bg1"/>
                </a:solidFill>
              </a:rPr>
              <a:t>eSEGuE</a:t>
            </a:r>
            <a:endParaRPr lang="it-IT" sz="7200" b="1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it-IT" sz="4800" b="1" dirty="0" err="1">
                <a:solidFill>
                  <a:schemeClr val="bg1"/>
                </a:solidFill>
              </a:rPr>
              <a:t>E</a:t>
            </a:r>
            <a:r>
              <a:rPr lang="it-IT" sz="4800" dirty="0" err="1">
                <a:solidFill>
                  <a:schemeClr val="bg1"/>
                </a:solidFill>
              </a:rPr>
              <a:t>valuate</a:t>
            </a:r>
            <a:r>
              <a:rPr lang="it-IT" sz="4800" dirty="0">
                <a:solidFill>
                  <a:schemeClr val="bg1"/>
                </a:solidFill>
              </a:rPr>
              <a:t> </a:t>
            </a:r>
            <a:r>
              <a:rPr lang="it-IT" sz="4800" b="1" dirty="0">
                <a:solidFill>
                  <a:schemeClr val="bg1"/>
                </a:solidFill>
              </a:rPr>
              <a:t>S</a:t>
            </a:r>
            <a:r>
              <a:rPr lang="it-IT" sz="4800" dirty="0">
                <a:solidFill>
                  <a:schemeClr val="bg1"/>
                </a:solidFill>
              </a:rPr>
              <a:t>ignal &amp; </a:t>
            </a:r>
            <a:r>
              <a:rPr lang="it-IT" sz="4800" b="1" dirty="0">
                <a:solidFill>
                  <a:schemeClr val="bg1"/>
                </a:solidFill>
              </a:rPr>
              <a:t>E</a:t>
            </a:r>
            <a:r>
              <a:rPr lang="it-IT" sz="4800" dirty="0">
                <a:solidFill>
                  <a:schemeClr val="bg1"/>
                </a:solidFill>
              </a:rPr>
              <a:t>nvironment to </a:t>
            </a:r>
            <a:r>
              <a:rPr lang="it-IT" sz="4800" b="1" dirty="0">
                <a:solidFill>
                  <a:schemeClr val="bg1"/>
                </a:solidFill>
              </a:rPr>
              <a:t>G</a:t>
            </a:r>
            <a:r>
              <a:rPr lang="it-IT" sz="4800" dirty="0">
                <a:solidFill>
                  <a:schemeClr val="bg1"/>
                </a:solidFill>
              </a:rPr>
              <a:t>uide </a:t>
            </a:r>
            <a:r>
              <a:rPr lang="it-IT" sz="4800" b="1" dirty="0" err="1">
                <a:solidFill>
                  <a:schemeClr val="bg1"/>
                </a:solidFill>
              </a:rPr>
              <a:t>E</a:t>
            </a:r>
            <a:r>
              <a:rPr lang="it-IT" sz="4800" dirty="0" err="1">
                <a:solidFill>
                  <a:schemeClr val="bg1"/>
                </a:solidFill>
              </a:rPr>
              <a:t>xecution</a:t>
            </a: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59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tangolo 30">
            <a:extLst>
              <a:ext uri="{FF2B5EF4-FFF2-40B4-BE49-F238E27FC236}">
                <a16:creationId xmlns:a16="http://schemas.microsoft.com/office/drawing/2014/main" id="{AEF605F1-4954-4334-869E-6F11BC3B068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SYSTEM OVERVIEW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2323F1A-14B1-413D-846E-F0785226BFD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Systematic financial intelligence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7CFB0C0-5A63-4F7B-85F7-C373D7CDC30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 dirty="0">
                <a:solidFill>
                  <a:srgbClr val="CBD5E1"/>
                </a:solidFill>
              </a:rPr>
              <a:t>An investor overview of the </a:t>
            </a:r>
            <a:r>
              <a:rPr sz="1200" dirty="0" err="1">
                <a:solidFill>
                  <a:srgbClr val="CBD5E1"/>
                </a:solidFill>
              </a:rPr>
              <a:t>eSEG</a:t>
            </a:r>
            <a:r>
              <a:rPr lang="it-IT" sz="1200" dirty="0">
                <a:solidFill>
                  <a:srgbClr val="CBD5E1"/>
                </a:solidFill>
              </a:rPr>
              <a:t>u</a:t>
            </a:r>
            <a:r>
              <a:rPr sz="1200" dirty="0">
                <a:solidFill>
                  <a:srgbClr val="CBD5E1"/>
                </a:solidFill>
              </a:rPr>
              <a:t>E system, its decision engines, operating evidence and development environment.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49567E4-9997-408C-A48A-49CD57557CBB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403AB3F-7CAC-40FC-854B-6DD138D9B8AF}"/>
              </a:ext>
            </a:extLst>
          </p:cNvPr>
          <p:cNvSpPr>
            <a:spLocks noGrp="1"/>
          </p:cNvSpPr>
          <p:nvPr/>
        </p:nvSpPr>
        <p:spPr>
          <a:xfrm>
            <a:off x="734784" y="2381250"/>
            <a:ext cx="235131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Nature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3A0C67B-E4F9-47C8-9E48-313ED791DF12}"/>
              </a:ext>
            </a:extLst>
          </p:cNvPr>
          <p:cNvSpPr>
            <a:spLocks noGrp="1"/>
          </p:cNvSpPr>
          <p:nvPr/>
        </p:nvSpPr>
        <p:spPr>
          <a:xfrm>
            <a:off x="734784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Quantitative system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315FCC6-ED3A-4C4E-9144-204AC13AF001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modular and proprietary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4F286C1-5903-42C8-922A-99D2BF0AB97E}"/>
              </a:ext>
            </a:extLst>
          </p:cNvPr>
          <p:cNvSpPr>
            <a:spLocks noGrp="1"/>
          </p:cNvSpPr>
          <p:nvPr/>
        </p:nvSpPr>
        <p:spPr>
          <a:xfrm>
            <a:off x="33909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524F4CB-859A-4AAB-B3DA-878693BF7D96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Purpose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7CDE9DE-CCA6-4221-ADBE-1868F2AF3A40}"/>
              </a:ext>
            </a:extLst>
          </p:cNvPr>
          <p:cNvSpPr>
            <a:spLocks noGrp="1"/>
          </p:cNvSpPr>
          <p:nvPr/>
        </p:nvSpPr>
        <p:spPr>
          <a:xfrm>
            <a:off x="3581400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Decision intelligence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AC43F1A-331D-473C-B889-629C8F08FE1C}"/>
              </a:ext>
            </a:extLst>
          </p:cNvPr>
          <p:cNvSpPr>
            <a:spLocks noGrp="1"/>
          </p:cNvSpPr>
          <p:nvPr/>
        </p:nvSpPr>
        <p:spPr>
          <a:xfrm>
            <a:off x="35814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signals, context and control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42DF8142-414F-4318-A24E-D704A8DA0073}"/>
              </a:ext>
            </a:extLst>
          </p:cNvPr>
          <p:cNvSpPr>
            <a:spLocks noGrp="1"/>
          </p:cNvSpPr>
          <p:nvPr/>
        </p:nvSpPr>
        <p:spPr>
          <a:xfrm>
            <a:off x="61722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DD0E4DE-59E9-4390-990D-20803A950F3B}"/>
              </a:ext>
            </a:extLst>
          </p:cNvPr>
          <p:cNvSpPr>
            <a:spLocks noGrp="1"/>
          </p:cNvSpPr>
          <p:nvPr/>
        </p:nvSpPr>
        <p:spPr>
          <a:xfrm>
            <a:off x="6362700" y="2381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Technology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112BF7B-6ADB-4B59-8F49-40085F7B6341}"/>
              </a:ext>
            </a:extLst>
          </p:cNvPr>
          <p:cNvSpPr>
            <a:spLocks noGrp="1"/>
          </p:cNvSpPr>
          <p:nvPr/>
        </p:nvSpPr>
        <p:spPr>
          <a:xfrm>
            <a:off x="6362700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Python + API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0D21545-2B4C-4489-8325-5C5D4006EA97}"/>
              </a:ext>
            </a:extLst>
          </p:cNvPr>
          <p:cNvSpPr>
            <a:spLocks noGrp="1"/>
          </p:cNvSpPr>
          <p:nvPr/>
        </p:nvSpPr>
        <p:spPr>
          <a:xfrm>
            <a:off x="63627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data, brokerage and automation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9FCAAA1-1880-4CDE-95ED-0483CBFAECD1}"/>
              </a:ext>
            </a:extLst>
          </p:cNvPr>
          <p:cNvSpPr>
            <a:spLocks noGrp="1"/>
          </p:cNvSpPr>
          <p:nvPr/>
        </p:nvSpPr>
        <p:spPr>
          <a:xfrm>
            <a:off x="89535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2BE5C26-C01F-4F43-A77B-FDC19611E362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A78BFA"/>
                </a:solidFill>
              </a:defRPr>
            </a:pPr>
            <a:r>
              <a:rPr sz="2250" b="1">
                <a:solidFill>
                  <a:srgbClr val="A78BFA"/>
                </a:solidFill>
              </a:rPr>
              <a:t>Method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13BAB77-AF30-4840-8656-E2A0C6C0EC26}"/>
              </a:ext>
            </a:extLst>
          </p:cNvPr>
          <p:cNvSpPr>
            <a:spLocks noGrp="1"/>
          </p:cNvSpPr>
          <p:nvPr/>
        </p:nvSpPr>
        <p:spPr>
          <a:xfrm>
            <a:off x="9144000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Evidence-driven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9514CF3-4FA7-48D4-ABF1-24510B0EEC7E}"/>
              </a:ext>
            </a:extLst>
          </p:cNvPr>
          <p:cNvSpPr>
            <a:spLocks noGrp="1"/>
          </p:cNvSpPr>
          <p:nvPr/>
        </p:nvSpPr>
        <p:spPr>
          <a:xfrm>
            <a:off x="91440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reporting and backtesting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57B1E206-55F2-4D00-8DD1-4EE2E97702AE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31E4362-EC26-4BF9-B496-9D6B44013EA7}"/>
              </a:ext>
            </a:extLst>
          </p:cNvPr>
          <p:cNvSpPr>
            <a:spLocks noGrp="1"/>
          </p:cNvSpPr>
          <p:nvPr/>
        </p:nvSpPr>
        <p:spPr>
          <a:xfrm>
            <a:off x="971550" y="4000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Ranking: structured classification of market opportunities.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DC0BE03C-5E1A-4464-93DB-5292A76558A8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8789E81-F2E8-4D40-A8DA-98AAABA4D7DE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Regime: cross-asset interpretation of market conditions.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A9A9825-4F4A-4E79-997A-692ABEF998CD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2C537052-9EB7-40CB-A5EF-5C473E3C36BE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600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Rotation: detection of leadership and capital shifts.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C454C443-2B23-468A-81D7-0D66AB3DEA1F}"/>
              </a:ext>
            </a:extLst>
          </p:cNvPr>
          <p:cNvSpPr>
            <a:spLocks noGrp="1"/>
          </p:cNvSpPr>
          <p:nvPr/>
        </p:nvSpPr>
        <p:spPr>
          <a:xfrm>
            <a:off x="7620000" y="4000500"/>
            <a:ext cx="3429000" cy="116205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F7EB74A2-012D-4A58-B508-5F3C633C9772}"/>
              </a:ext>
            </a:extLst>
          </p:cNvPr>
          <p:cNvSpPr>
            <a:spLocks noGrp="1"/>
          </p:cNvSpPr>
          <p:nvPr/>
        </p:nvSpPr>
        <p:spPr>
          <a:xfrm>
            <a:off x="7848600" y="4210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F8FAFC"/>
                </a:solidFill>
              </a:defRPr>
            </a:pPr>
            <a:r>
              <a:rPr sz="1125" b="1" dirty="0" err="1">
                <a:solidFill>
                  <a:srgbClr val="F8FAFC"/>
                </a:solidFill>
              </a:rPr>
              <a:t>eSEG</a:t>
            </a:r>
            <a:r>
              <a:rPr lang="it-IT" sz="1125" b="1" dirty="0">
                <a:solidFill>
                  <a:srgbClr val="F8FAFC"/>
                </a:solidFill>
              </a:rPr>
              <a:t>u</a:t>
            </a:r>
            <a:r>
              <a:rPr sz="1125" b="1" dirty="0">
                <a:solidFill>
                  <a:srgbClr val="F8FAFC"/>
                </a:solidFill>
              </a:rPr>
              <a:t>E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212CC42-617D-4D92-A24E-B6A7051DC526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Ranking · Regime · Rotation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AF898A11-7AE7-4968-ACEB-309F687CE49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System overview | 9 July 2026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FD078E8-BDFC-4F7B-A3F4-0EB929580FFC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2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63" name="Immagine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0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tangolo 30">
            <a:extLst>
              <a:ext uri="{FF2B5EF4-FFF2-40B4-BE49-F238E27FC236}">
                <a16:creationId xmlns:a16="http://schemas.microsoft.com/office/drawing/2014/main" id="{AEF605F1-4954-4334-869E-6F11BC3B068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SYSTEM OVERVIEW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2323F1A-14B1-413D-846E-F0785226BFD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A modular quantitative system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7CFB0C0-5A63-4F7B-85F7-C373D7CDC30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 dirty="0" err="1">
                <a:solidFill>
                  <a:srgbClr val="CBD5E1"/>
                </a:solidFill>
              </a:rPr>
              <a:t>eSEG</a:t>
            </a:r>
            <a:r>
              <a:rPr lang="it-IT" sz="1200" dirty="0">
                <a:solidFill>
                  <a:srgbClr val="CBD5E1"/>
                </a:solidFill>
              </a:rPr>
              <a:t>u</a:t>
            </a:r>
            <a:r>
              <a:rPr sz="1200" dirty="0">
                <a:solidFill>
                  <a:srgbClr val="CBD5E1"/>
                </a:solidFill>
              </a:rPr>
              <a:t>E combines data, decision logic and automation to transform market information into traceable outputs.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49567E4-9997-408C-A48A-49CD57557CBB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403AB3F-7CAC-40FC-854B-6DD138D9B8AF}"/>
              </a:ext>
            </a:extLst>
          </p:cNvPr>
          <p:cNvSpPr>
            <a:spLocks noGrp="1"/>
          </p:cNvSpPr>
          <p:nvPr/>
        </p:nvSpPr>
        <p:spPr>
          <a:xfrm>
            <a:off x="734784" y="2381250"/>
            <a:ext cx="2351316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Software system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3A0C67B-E4F9-47C8-9E48-313ED791DF12}"/>
              </a:ext>
            </a:extLst>
          </p:cNvPr>
          <p:cNvSpPr>
            <a:spLocks noGrp="1"/>
          </p:cNvSpPr>
          <p:nvPr/>
        </p:nvSpPr>
        <p:spPr>
          <a:xfrm>
            <a:off x="734784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Nature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315FCC6-ED3A-4C4E-9144-204AC13AF001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proprietary modular platform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4F286C1-5903-42C8-922A-99D2BF0AB97E}"/>
              </a:ext>
            </a:extLst>
          </p:cNvPr>
          <p:cNvSpPr>
            <a:spLocks noGrp="1"/>
          </p:cNvSpPr>
          <p:nvPr/>
        </p:nvSpPr>
        <p:spPr>
          <a:xfrm>
            <a:off x="33909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524F4CB-859A-4AAB-B3DA-878693BF7D96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Python + API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7CDE9DE-CCA6-4221-ADBE-1868F2AF3A40}"/>
              </a:ext>
            </a:extLst>
          </p:cNvPr>
          <p:cNvSpPr>
            <a:spLocks noGrp="1"/>
          </p:cNvSpPr>
          <p:nvPr/>
        </p:nvSpPr>
        <p:spPr>
          <a:xfrm>
            <a:off x="3581400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Technology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AC43F1A-331D-473C-B889-629C8F08FE1C}"/>
              </a:ext>
            </a:extLst>
          </p:cNvPr>
          <p:cNvSpPr>
            <a:spLocks noGrp="1"/>
          </p:cNvSpPr>
          <p:nvPr/>
        </p:nvSpPr>
        <p:spPr>
          <a:xfrm>
            <a:off x="35814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integrated data, broker and services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42DF8142-414F-4318-A24E-D704A8DA0073}"/>
              </a:ext>
            </a:extLst>
          </p:cNvPr>
          <p:cNvSpPr>
            <a:spLocks noGrp="1"/>
          </p:cNvSpPr>
          <p:nvPr/>
        </p:nvSpPr>
        <p:spPr>
          <a:xfrm>
            <a:off x="61722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DD0E4DE-59E9-4390-990D-20803A950F3B}"/>
              </a:ext>
            </a:extLst>
          </p:cNvPr>
          <p:cNvSpPr>
            <a:spLocks noGrp="1"/>
          </p:cNvSpPr>
          <p:nvPr/>
        </p:nvSpPr>
        <p:spPr>
          <a:xfrm>
            <a:off x="6362700" y="2381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Decision layer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112BF7B-6ADB-4B59-8F49-40085F7B6341}"/>
              </a:ext>
            </a:extLst>
          </p:cNvPr>
          <p:cNvSpPr>
            <a:spLocks noGrp="1"/>
          </p:cNvSpPr>
          <p:nvPr/>
        </p:nvSpPr>
        <p:spPr>
          <a:xfrm>
            <a:off x="6362700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Purpose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0D21545-2B4C-4489-8325-5C5D4006EA97}"/>
              </a:ext>
            </a:extLst>
          </p:cNvPr>
          <p:cNvSpPr>
            <a:spLocks noGrp="1"/>
          </p:cNvSpPr>
          <p:nvPr/>
        </p:nvSpPr>
        <p:spPr>
          <a:xfrm>
            <a:off x="63627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reduce fragmentation and discretion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9FCAAA1-1880-4CDE-95ED-0483CBFAECD1}"/>
              </a:ext>
            </a:extLst>
          </p:cNvPr>
          <p:cNvSpPr>
            <a:spLocks noGrp="1"/>
          </p:cNvSpPr>
          <p:nvPr/>
        </p:nvSpPr>
        <p:spPr>
          <a:xfrm>
            <a:off x="8953500" y="21907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2BE5C26-C01F-4F43-A77B-FDC19611E362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A78BFA"/>
                </a:solidFill>
              </a:defRPr>
            </a:pPr>
            <a:r>
              <a:rPr sz="2250" b="1">
                <a:solidFill>
                  <a:srgbClr val="A78BFA"/>
                </a:solidFill>
              </a:rPr>
              <a:t>Evidence loop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13BAB77-AF30-4840-8656-E2A0C6C0EC26}"/>
              </a:ext>
            </a:extLst>
          </p:cNvPr>
          <p:cNvSpPr>
            <a:spLocks noGrp="1"/>
          </p:cNvSpPr>
          <p:nvPr/>
        </p:nvSpPr>
        <p:spPr>
          <a:xfrm>
            <a:off x="9144000" y="2838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Method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9514CF3-4FA7-48D4-ABF1-24510B0EEC7E}"/>
              </a:ext>
            </a:extLst>
          </p:cNvPr>
          <p:cNvSpPr>
            <a:spLocks noGrp="1"/>
          </p:cNvSpPr>
          <p:nvPr/>
        </p:nvSpPr>
        <p:spPr>
          <a:xfrm>
            <a:off x="9144000" y="3162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measure, compare and improve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57B1E206-55F2-4D00-8DD1-4EE2E97702AE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31E4362-EC26-4BF9-B496-9D6B44013EA7}"/>
              </a:ext>
            </a:extLst>
          </p:cNvPr>
          <p:cNvSpPr>
            <a:spLocks noGrp="1"/>
          </p:cNvSpPr>
          <p:nvPr/>
        </p:nvSpPr>
        <p:spPr>
          <a:xfrm>
            <a:off x="971550" y="4000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Collects market data, news and contextual information from specialized providers.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DC0BE03C-5E1A-4464-93DB-5292A76558A8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8789E81-F2E8-4D40-A8DA-98AAABA4D7DE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Separates analysis, signal generation, execution and outcome monitoring.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A9A9825-4F4A-4E79-997A-692ABEF998CD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2C537052-9EB7-40CB-A5EF-5C473E3C36BE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600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Maintains an auditable history to evaluate decision quality and robustness over time.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C454C443-2B23-468A-81D7-0D66AB3DEA1F}"/>
              </a:ext>
            </a:extLst>
          </p:cNvPr>
          <p:cNvSpPr>
            <a:spLocks noGrp="1"/>
          </p:cNvSpPr>
          <p:nvPr/>
        </p:nvSpPr>
        <p:spPr>
          <a:xfrm>
            <a:off x="7620000" y="4000500"/>
            <a:ext cx="3429000" cy="116205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F7EB74A2-012D-4A58-B508-5F3C633C9772}"/>
              </a:ext>
            </a:extLst>
          </p:cNvPr>
          <p:cNvSpPr>
            <a:spLocks noGrp="1"/>
          </p:cNvSpPr>
          <p:nvPr/>
        </p:nvSpPr>
        <p:spPr>
          <a:xfrm>
            <a:off x="7848600" y="4210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High-level objective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212CC42-617D-4D92-A24E-B6A7051DC526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Provide a coherent market view and support repeatable, controlled and explainable decisions.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AF898A11-7AE7-4968-ACEB-309F687CE49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Nature, technology and purpose | 9 July 2026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FD078E8-BDFC-4F7B-A3F4-0EB929580FFC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3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C566EA71-9E31-BF2F-07C7-C77CD212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0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tangolo 25">
            <a:extLst>
              <a:ext uri="{FF2B5EF4-FFF2-40B4-BE49-F238E27FC236}">
                <a16:creationId xmlns:a16="http://schemas.microsoft.com/office/drawing/2014/main" id="{6099DBF1-8BC7-48C5-87F7-AAC57D142AA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DECISION ENGINES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B697161-9F2D-40B5-BCF8-0BB5CC8B5A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Two main engines, two complementary views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CDA53D4-F265-4463-93E2-3ED0006851C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One engine evaluates individual opportunities; the other interprets the broader environment in which they emerge.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ABDAFCA-CC16-42AF-AD18-1D4FC5F3CD55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3B9FE85-A6F4-4CE6-958B-723821C83D8C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Equity Main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7DFBF7C-8CCD-4DEA-B5E2-721246B808C1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2C55E"/>
                </a:solidFill>
              </a:defRPr>
            </a:pPr>
            <a:r>
              <a:rPr sz="1050" b="1">
                <a:solidFill>
                  <a:srgbClr val="22C55E"/>
                </a:solidFill>
              </a:rPr>
              <a:t>Micro view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471C6F7-7D10-4C09-B7CD-711160E783BE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ranking and classification of equity opportunities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4FC2BF1-F860-44DA-8FC4-47CFF4963654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A7E27CB-9D77-465B-B648-85BEED5AF7A8}"/>
              </a:ext>
            </a:extLst>
          </p:cNvPr>
          <p:cNvSpPr>
            <a:spLocks noGrp="1"/>
          </p:cNvSpPr>
          <p:nvPr/>
        </p:nvSpPr>
        <p:spPr>
          <a:xfrm>
            <a:off x="1123950" y="29051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Regime Main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7AE39BB-E8A1-40EA-AAC9-2880404D14B3}"/>
              </a:ext>
            </a:extLst>
          </p:cNvPr>
          <p:cNvSpPr>
            <a:spLocks noGrp="1"/>
          </p:cNvSpPr>
          <p:nvPr/>
        </p:nvSpPr>
        <p:spPr>
          <a:xfrm>
            <a:off x="3524250" y="29051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38BDF8"/>
                </a:solidFill>
              </a:defRPr>
            </a:pPr>
            <a:r>
              <a:rPr sz="1050" b="1">
                <a:solidFill>
                  <a:srgbClr val="38BDF8"/>
                </a:solidFill>
              </a:rPr>
              <a:t>Macro view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8857F32-7EFB-4320-B60E-497A9090F8E4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regime, leadership and rotations across assets and regions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E676163-935D-41C3-884A-532CCB427A17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12FAC28-E3D1-4331-8615-98AEC709B2AE}"/>
              </a:ext>
            </a:extLst>
          </p:cNvPr>
          <p:cNvSpPr>
            <a:spLocks noGrp="1"/>
          </p:cNvSpPr>
          <p:nvPr/>
        </p:nvSpPr>
        <p:spPr>
          <a:xfrm>
            <a:off x="1123950" y="35718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Shared purpose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44D0135-6EB3-4AA5-9C39-B00CC66891A4}"/>
              </a:ext>
            </a:extLst>
          </p:cNvPr>
          <p:cNvSpPr>
            <a:spLocks noGrp="1"/>
          </p:cNvSpPr>
          <p:nvPr/>
        </p:nvSpPr>
        <p:spPr>
          <a:xfrm>
            <a:off x="3524250" y="35718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Context-aware decisions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1483201-83DE-403D-A665-97EE9A0ABDFB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interpret each opportunity within its market environment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3169A921-8826-4D13-AD0D-82C0DA0139F7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A61B87B-2443-43BF-B3B0-B08E2903BF5B}"/>
              </a:ext>
            </a:extLst>
          </p:cNvPr>
          <p:cNvSpPr>
            <a:spLocks noGrp="1"/>
          </p:cNvSpPr>
          <p:nvPr/>
        </p:nvSpPr>
        <p:spPr>
          <a:xfrm>
            <a:off x="1123950" y="42386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Structured outputs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7760BD-9F98-470D-AE90-6CC66A1E7DF4}"/>
              </a:ext>
            </a:extLst>
          </p:cNvPr>
          <p:cNvSpPr>
            <a:spLocks noGrp="1"/>
          </p:cNvSpPr>
          <p:nvPr/>
        </p:nvSpPr>
        <p:spPr>
          <a:xfrm>
            <a:off x="3524250" y="42386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Signals &amp; labels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7AEC819-13A2-4BD6-A09F-1511E7104E2A}"/>
              </a:ext>
            </a:extLst>
          </p:cNvPr>
          <p:cNvSpPr>
            <a:spLocks noGrp="1"/>
          </p:cNvSpPr>
          <p:nvPr/>
        </p:nvSpPr>
        <p:spPr>
          <a:xfrm>
            <a:off x="6572250" y="42386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rankings, regime indicators, spreads and concise messages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8F913D6C-F088-4D22-8C8B-2982C387D59F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C5C14EB-37EC-4146-B082-45D73EDB4820}"/>
              </a:ext>
            </a:extLst>
          </p:cNvPr>
          <p:cNvSpPr>
            <a:spLocks noGrp="1"/>
          </p:cNvSpPr>
          <p:nvPr/>
        </p:nvSpPr>
        <p:spPr>
          <a:xfrm>
            <a:off x="1123950" y="49053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Independent evolution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ADF9963-9285-451B-A2F2-61B0157A7218}"/>
              </a:ext>
            </a:extLst>
          </p:cNvPr>
          <p:cNvSpPr>
            <a:spLocks noGrp="1"/>
          </p:cNvSpPr>
          <p:nvPr/>
        </p:nvSpPr>
        <p:spPr>
          <a:xfrm>
            <a:off x="3524250" y="49053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Separate processes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189EC80-8CF0-4FC5-86BA-18FA7798222C}"/>
              </a:ext>
            </a:extLst>
          </p:cNvPr>
          <p:cNvSpPr>
            <a:spLocks noGrp="1"/>
          </p:cNvSpPr>
          <p:nvPr/>
        </p:nvSpPr>
        <p:spPr>
          <a:xfrm>
            <a:off x="6572250" y="490537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independent development, validation and use of each engine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1B18545-A7D5-4F49-B345-6BAFA476B15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Decision engines | 9 July 2026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A00B1994-E434-4192-A5C1-14C615E81F0F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4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7031D668-5389-997D-2B03-9610F2446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tangolo 34">
            <a:extLst>
              <a:ext uri="{FF2B5EF4-FFF2-40B4-BE49-F238E27FC236}">
                <a16:creationId xmlns:a16="http://schemas.microsoft.com/office/drawing/2014/main" id="{843F9930-3DB5-4D77-B7F8-94324F8421E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ADDITIONAL FEATURES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09DB4B6-8F2E-4AFA-BAB1-4339504FB4B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From decision to operating loop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E2B3C78-C733-4206-AAC8-1E5B5CF92CE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Complementary features make the system automatable, observable and able to learn from accumulated evidence.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8016674-FD63-4FA1-B54E-99FBB02309C7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172033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C40F6D9-F3B4-4A5D-BF67-B43B5E338853}"/>
              </a:ext>
            </a:extLst>
          </p:cNvPr>
          <p:cNvSpPr>
            <a:spLocks noGrp="1"/>
          </p:cNvSpPr>
          <p:nvPr/>
        </p:nvSpPr>
        <p:spPr>
          <a:xfrm>
            <a:off x="1085850" y="24669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Automated execution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8B6CC70-70D4-4410-9E5B-37E06603096F}"/>
              </a:ext>
            </a:extLst>
          </p:cNvPr>
          <p:cNvSpPr>
            <a:spLocks noGrp="1"/>
          </p:cNvSpPr>
          <p:nvPr/>
        </p:nvSpPr>
        <p:spPr>
          <a:xfrm>
            <a:off x="1085850" y="2733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order transmission and control</a:t>
            </a:r>
          </a:p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through Interactive Brokers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7FD096E-74DA-48EC-941D-731BA6F0D2DE}"/>
              </a:ext>
            </a:extLst>
          </p:cNvPr>
          <p:cNvSpPr>
            <a:spLocks noGrp="1"/>
          </p:cNvSpPr>
          <p:nvPr/>
        </p:nvSpPr>
        <p:spPr>
          <a:xfrm>
            <a:off x="3714750" y="2333625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172033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21C74EF-47C3-408D-BBAD-3F892E588878}"/>
              </a:ext>
            </a:extLst>
          </p:cNvPr>
          <p:cNvSpPr>
            <a:spLocks noGrp="1"/>
          </p:cNvSpPr>
          <p:nvPr/>
        </p:nvSpPr>
        <p:spPr>
          <a:xfrm>
            <a:off x="3848100" y="24669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Periodic reporting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9ACC4BF-C505-4DFA-8810-B094652F198D}"/>
              </a:ext>
            </a:extLst>
          </p:cNvPr>
          <p:cNvSpPr>
            <a:spLocks noGrp="1"/>
          </p:cNvSpPr>
          <p:nvPr/>
        </p:nvSpPr>
        <p:spPr>
          <a:xfrm>
            <a:off x="3848100" y="2733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historical record of trades,</a:t>
            </a:r>
          </a:p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volumes, results and context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8165FDAB-4D4C-4D11-91DD-69692CD9361C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172033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AE8AE4B-2825-4C61-8B07-9939731A34B1}"/>
              </a:ext>
            </a:extLst>
          </p:cNvPr>
          <p:cNvSpPr>
            <a:spLocks noGrp="1"/>
          </p:cNvSpPr>
          <p:nvPr/>
        </p:nvSpPr>
        <p:spPr>
          <a:xfrm>
            <a:off x="6610350" y="24669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Backtesting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40B24F5-16FA-440C-89B9-B21D99EFFFFB}"/>
              </a:ext>
            </a:extLst>
          </p:cNvPr>
          <p:cNvSpPr>
            <a:spLocks noGrp="1"/>
          </p:cNvSpPr>
          <p:nvPr/>
        </p:nvSpPr>
        <p:spPr>
          <a:xfrm>
            <a:off x="6610350" y="2733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comparison of policies, signals,</a:t>
            </a:r>
          </a:p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regimes and holding periods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0BB6504-E44E-4120-9EF6-67A8A4871B52}"/>
              </a:ext>
            </a:extLst>
          </p:cNvPr>
          <p:cNvSpPr>
            <a:spLocks noGrp="1"/>
          </p:cNvSpPr>
          <p:nvPr/>
        </p:nvSpPr>
        <p:spPr>
          <a:xfrm>
            <a:off x="9239250" y="2333625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172033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C8040D5-2393-4A87-B5B0-7F0FAC93299D}"/>
              </a:ext>
            </a:extLst>
          </p:cNvPr>
          <p:cNvSpPr>
            <a:spLocks noGrp="1"/>
          </p:cNvSpPr>
          <p:nvPr/>
        </p:nvSpPr>
        <p:spPr>
          <a:xfrm>
            <a:off x="9372600" y="2466975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Telegram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6E58059-66B6-4C05-A05B-04B4A4F4C35C}"/>
              </a:ext>
            </a:extLst>
          </p:cNvPr>
          <p:cNvSpPr>
            <a:spLocks noGrp="1"/>
          </p:cNvSpPr>
          <p:nvPr/>
        </p:nvSpPr>
        <p:spPr>
          <a:xfrm>
            <a:off x="9372600" y="2733675"/>
            <a:ext cx="1924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rankings, alerts, execution results</a:t>
            </a:r>
          </a:p>
          <a:p>
            <a:pPr>
              <a:buNone/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and process anomalies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5A5081A-98EB-4B2D-BFFE-41417FAB76A7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Operational loop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30A629D5-9B54-4ABD-BDEE-9929A68C81F2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B01103B-1C32-4D21-90A8-C37F8710ADAB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ACT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E8774CF-6012-4D5F-8D80-EEFB29A8ED97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Execution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2930A85-450E-4DA7-9A2A-E901B89BCBFC}"/>
              </a:ext>
            </a:extLst>
          </p:cNvPr>
          <p:cNvSpPr>
            <a:spLocks noGrp="1"/>
          </p:cNvSpPr>
          <p:nvPr/>
        </p:nvSpPr>
        <p:spPr>
          <a:xfrm>
            <a:off x="1143000" y="5543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from signal to broker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CD9141C2-6C27-48D1-86AE-883B76350649}"/>
              </a:ext>
            </a:extLst>
          </p:cNvPr>
          <p:cNvSpPr>
            <a:spLocks noGrp="1"/>
          </p:cNvSpPr>
          <p:nvPr/>
        </p:nvSpPr>
        <p:spPr>
          <a:xfrm>
            <a:off x="3333750" y="457200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2E3740D-B0F6-484C-8705-626565D1569C}"/>
              </a:ext>
            </a:extLst>
          </p:cNvPr>
          <p:cNvSpPr>
            <a:spLocks noGrp="1"/>
          </p:cNvSpPr>
          <p:nvPr/>
        </p:nvSpPr>
        <p:spPr>
          <a:xfrm>
            <a:off x="3524250" y="4762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RECORD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59B0689-7309-4605-A7D1-3A96DF5CA686}"/>
              </a:ext>
            </a:extLst>
          </p:cNvPr>
          <p:cNvSpPr>
            <a:spLocks noGrp="1"/>
          </p:cNvSpPr>
          <p:nvPr/>
        </p:nvSpPr>
        <p:spPr>
          <a:xfrm>
            <a:off x="3524250" y="5219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Reports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7DD259C5-EE06-4DE7-B628-09CC8C30A1CB}"/>
              </a:ext>
            </a:extLst>
          </p:cNvPr>
          <p:cNvSpPr>
            <a:spLocks noGrp="1"/>
          </p:cNvSpPr>
          <p:nvPr/>
        </p:nvSpPr>
        <p:spPr>
          <a:xfrm>
            <a:off x="3524250" y="5543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historical evidence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E6EA507A-5FDF-4BB4-A6BC-7F6DA997D740}"/>
              </a:ext>
            </a:extLst>
          </p:cNvPr>
          <p:cNvSpPr>
            <a:spLocks noGrp="1"/>
          </p:cNvSpPr>
          <p:nvPr/>
        </p:nvSpPr>
        <p:spPr>
          <a:xfrm>
            <a:off x="5715000" y="457200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EFD40232-6506-40E0-BB44-6BED03B9C46D}"/>
              </a:ext>
            </a:extLst>
          </p:cNvPr>
          <p:cNvSpPr>
            <a:spLocks noGrp="1"/>
          </p:cNvSpPr>
          <p:nvPr/>
        </p:nvSpPr>
        <p:spPr>
          <a:xfrm>
            <a:off x="5905500" y="4762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LEARN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7E69C180-61DF-40E3-802A-0054640DF116}"/>
              </a:ext>
            </a:extLst>
          </p:cNvPr>
          <p:cNvSpPr>
            <a:spLocks noGrp="1"/>
          </p:cNvSpPr>
          <p:nvPr/>
        </p:nvSpPr>
        <p:spPr>
          <a:xfrm>
            <a:off x="5905500" y="5219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Backtest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B360A8B1-CB2E-47D5-ADB4-FD01E00B576B}"/>
              </a:ext>
            </a:extLst>
          </p:cNvPr>
          <p:cNvSpPr>
            <a:spLocks noGrp="1"/>
          </p:cNvSpPr>
          <p:nvPr/>
        </p:nvSpPr>
        <p:spPr>
          <a:xfrm>
            <a:off x="5905500" y="5543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policy refinement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46DCA8C5-4B1D-4D5E-92A5-4655698D44C7}"/>
              </a:ext>
            </a:extLst>
          </p:cNvPr>
          <p:cNvSpPr>
            <a:spLocks noGrp="1"/>
          </p:cNvSpPr>
          <p:nvPr/>
        </p:nvSpPr>
        <p:spPr>
          <a:xfrm>
            <a:off x="8096250" y="4572000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E829CA7D-5EF1-42B8-B2F4-8375B21214E9}"/>
              </a:ext>
            </a:extLst>
          </p:cNvPr>
          <p:cNvSpPr>
            <a:spLocks noGrp="1"/>
          </p:cNvSpPr>
          <p:nvPr/>
        </p:nvSpPr>
        <p:spPr>
          <a:xfrm>
            <a:off x="8286750" y="47625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ALERT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8C65B3E7-0127-4ED4-B4F4-610BF90656BF}"/>
              </a:ext>
            </a:extLst>
          </p:cNvPr>
          <p:cNvSpPr>
            <a:spLocks noGrp="1"/>
          </p:cNvSpPr>
          <p:nvPr/>
        </p:nvSpPr>
        <p:spPr>
          <a:xfrm>
            <a:off x="8286750" y="5219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CBD5E1"/>
                </a:solidFill>
              </a:defRPr>
            </a:pPr>
            <a:r>
              <a:rPr sz="975" b="1">
                <a:solidFill>
                  <a:srgbClr val="CBD5E1"/>
                </a:solidFill>
              </a:rPr>
              <a:t>Telegram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9DEB79C7-E0BB-4F84-BA64-A908CDF1A826}"/>
              </a:ext>
            </a:extLst>
          </p:cNvPr>
          <p:cNvSpPr>
            <a:spLocks noGrp="1"/>
          </p:cNvSpPr>
          <p:nvPr/>
        </p:nvSpPr>
        <p:spPr>
          <a:xfrm>
            <a:off x="8286750" y="5543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events, results and controls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475BC959-9DFE-4480-AA55-CC0064D54CF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Automation, reporting and learning | 9 July 2026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833409C9-34CE-4053-ABC4-0A7D13A96632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5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79537A49-F3FF-9A6A-E4A0-2967788DE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tangolo 43">
            <a:extLst>
              <a:ext uri="{FF2B5EF4-FFF2-40B4-BE49-F238E27FC236}">
                <a16:creationId xmlns:a16="http://schemas.microsoft.com/office/drawing/2014/main" id="{01BA842D-4EB9-458A-AB56-D04EB11FDC5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WORKING ENVIRONMENT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219916E-CD73-412B-B84C-C7A0B19F61D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A synchronized and controlled workspace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B6C1074-CF25-4B87-8B12-11DF7235B6F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Development, repository, private web access and operations are separated while remaining fully traceable.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D56ADDA-72A2-4D79-A729-7822A17C8919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79D9112-70D5-4B54-9247-608F2DD5F1B1}"/>
              </a:ext>
            </a:extLst>
          </p:cNvPr>
          <p:cNvSpPr>
            <a:spLocks noGrp="1"/>
          </p:cNvSpPr>
          <p:nvPr/>
        </p:nvSpPr>
        <p:spPr>
          <a:xfrm>
            <a:off x="971550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Development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3EAF625-468B-4288-A102-7999281B754C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1A4D728-E113-45CB-879F-1B22673484B2}"/>
              </a:ext>
            </a:extLst>
          </p:cNvPr>
          <p:cNvSpPr>
            <a:spLocks noGrp="1"/>
          </p:cNvSpPr>
          <p:nvPr/>
        </p:nvSpPr>
        <p:spPr>
          <a:xfrm>
            <a:off x="1181100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Codex-assisted engineering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54AAA2C-8D03-49C3-AF3E-8FD40C777AE5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65B5CF8-9E7E-417D-8C97-F57BB214EF6C}"/>
              </a:ext>
            </a:extLst>
          </p:cNvPr>
          <p:cNvSpPr>
            <a:spLocks noGrp="1"/>
          </p:cNvSpPr>
          <p:nvPr/>
        </p:nvSpPr>
        <p:spPr>
          <a:xfrm>
            <a:off x="1181100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Python 3.12 + venv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4BCD277-781A-4DE5-B346-BEFF7D8DA6E6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EE6D62D-EB10-4D85-ABC8-FCCCFE7807F2}"/>
              </a:ext>
            </a:extLst>
          </p:cNvPr>
          <p:cNvSpPr>
            <a:spLocks noGrp="1"/>
          </p:cNvSpPr>
          <p:nvPr/>
        </p:nvSpPr>
        <p:spPr>
          <a:xfrm>
            <a:off x="1181100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local testing workspace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E1A5181C-A16B-44F4-9DD1-3DCB832D1876}"/>
              </a:ext>
            </a:extLst>
          </p:cNvPr>
          <p:cNvSpPr>
            <a:spLocks noGrp="1"/>
          </p:cNvSpPr>
          <p:nvPr/>
        </p:nvSpPr>
        <p:spPr>
          <a:xfrm>
            <a:off x="3571875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7EDA877-AE6E-49BE-B8ED-483876981F05}"/>
              </a:ext>
            </a:extLst>
          </p:cNvPr>
          <p:cNvSpPr>
            <a:spLocks noGrp="1"/>
          </p:cNvSpPr>
          <p:nvPr/>
        </p:nvSpPr>
        <p:spPr>
          <a:xfrm>
            <a:off x="3781425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GitHub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9ED44A5-189C-4BA5-B40E-945B909B0A82}"/>
              </a:ext>
            </a:extLst>
          </p:cNvPr>
          <p:cNvSpPr>
            <a:spLocks noGrp="1"/>
          </p:cNvSpPr>
          <p:nvPr/>
        </p:nvSpPr>
        <p:spPr>
          <a:xfrm>
            <a:off x="3800475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F0046FB-0DD7-4831-B651-0B5F92C0AEDE}"/>
              </a:ext>
            </a:extLst>
          </p:cNvPr>
          <p:cNvSpPr>
            <a:spLocks noGrp="1"/>
          </p:cNvSpPr>
          <p:nvPr/>
        </p:nvSpPr>
        <p:spPr>
          <a:xfrm>
            <a:off x="3990975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private repository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69CCE0F-D3EC-4ADE-9853-1931A7145FB6}"/>
              </a:ext>
            </a:extLst>
          </p:cNvPr>
          <p:cNvSpPr>
            <a:spLocks noGrp="1"/>
          </p:cNvSpPr>
          <p:nvPr/>
        </p:nvSpPr>
        <p:spPr>
          <a:xfrm>
            <a:off x="3800475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520607C-679D-4C78-9AD0-4B21737C3714}"/>
              </a:ext>
            </a:extLst>
          </p:cNvPr>
          <p:cNvSpPr>
            <a:spLocks noGrp="1"/>
          </p:cNvSpPr>
          <p:nvPr/>
        </p:nvSpPr>
        <p:spPr>
          <a:xfrm>
            <a:off x="3990975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synchronized project copy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F390932-84DE-40EB-BFC1-E965DE0D1714}"/>
              </a:ext>
            </a:extLst>
          </p:cNvPr>
          <p:cNvSpPr>
            <a:spLocks noGrp="1"/>
          </p:cNvSpPr>
          <p:nvPr/>
        </p:nvSpPr>
        <p:spPr>
          <a:xfrm>
            <a:off x="3800475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AA5AB7FC-EAAE-480E-8A1E-B9A4C8C14575}"/>
              </a:ext>
            </a:extLst>
          </p:cNvPr>
          <p:cNvSpPr>
            <a:spLocks noGrp="1"/>
          </p:cNvSpPr>
          <p:nvPr/>
        </p:nvSpPr>
        <p:spPr>
          <a:xfrm>
            <a:off x="3990975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docs / scripts / src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9FE2BDD6-7E1C-47CA-B648-C17DEFD78041}"/>
              </a:ext>
            </a:extLst>
          </p:cNvPr>
          <p:cNvSpPr>
            <a:spLocks noGrp="1"/>
          </p:cNvSpPr>
          <p:nvPr/>
        </p:nvSpPr>
        <p:spPr>
          <a:xfrm>
            <a:off x="3800475" y="4171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7B1FD2F-FFB4-4433-997D-FE6F5111D966}"/>
              </a:ext>
            </a:extLst>
          </p:cNvPr>
          <p:cNvSpPr>
            <a:spLocks noGrp="1"/>
          </p:cNvSpPr>
          <p:nvPr/>
        </p:nvSpPr>
        <p:spPr>
          <a:xfrm>
            <a:off x="3990975" y="41052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versioned commits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15B69DA6-20C9-492A-8CCE-1F11CEDB29AE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CCA046C9-0231-4FC9-B9A4-4618EEC4CBB8}"/>
              </a:ext>
            </a:extLst>
          </p:cNvPr>
          <p:cNvSpPr>
            <a:spLocks noGrp="1"/>
          </p:cNvSpPr>
          <p:nvPr/>
        </p:nvSpPr>
        <p:spPr>
          <a:xfrm>
            <a:off x="6591300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Cloudflare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3233DBB-A11A-4B7A-A062-C8917B88B0B0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9D2A46F6-FF09-4E9C-92D3-A10C5A978862}"/>
              </a:ext>
            </a:extLst>
          </p:cNvPr>
          <p:cNvSpPr>
            <a:spLocks noGrp="1"/>
          </p:cNvSpPr>
          <p:nvPr/>
        </p:nvSpPr>
        <p:spPr>
          <a:xfrm>
            <a:off x="6800850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esegue.ai domain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6EF2E73B-0A55-4E06-81C4-5683DA946455}"/>
              </a:ext>
            </a:extLst>
          </p:cNvPr>
          <p:cNvSpPr>
            <a:spLocks noGrp="1"/>
          </p:cNvSpPr>
          <p:nvPr/>
        </p:nvSpPr>
        <p:spPr>
          <a:xfrm>
            <a:off x="6610350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D46989D-56CA-4DFC-94D3-E5977E711D96}"/>
              </a:ext>
            </a:extLst>
          </p:cNvPr>
          <p:cNvSpPr>
            <a:spLocks noGrp="1"/>
          </p:cNvSpPr>
          <p:nvPr/>
        </p:nvSpPr>
        <p:spPr>
          <a:xfrm>
            <a:off x="6800850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Access-protected workspace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F7F6D1A8-C3C9-4D05-93AD-5E54E9AE8E64}"/>
              </a:ext>
            </a:extLst>
          </p:cNvPr>
          <p:cNvSpPr>
            <a:spLocks noGrp="1"/>
          </p:cNvSpPr>
          <p:nvPr/>
        </p:nvSpPr>
        <p:spPr>
          <a:xfrm>
            <a:off x="6610350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EAD1C6E5-22A6-410F-B406-2DF51EF88EA7}"/>
              </a:ext>
            </a:extLst>
          </p:cNvPr>
          <p:cNvSpPr>
            <a:spLocks noGrp="1"/>
          </p:cNvSpPr>
          <p:nvPr/>
        </p:nvSpPr>
        <p:spPr>
          <a:xfrm>
            <a:off x="6800850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identity controls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3258E32E-D805-433E-9E66-0EB6B832E37C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5871EF3-F64B-45AA-A9AE-D1F2D3AD49C8}"/>
              </a:ext>
            </a:extLst>
          </p:cNvPr>
          <p:cNvSpPr>
            <a:spLocks noGrp="1"/>
          </p:cNvSpPr>
          <p:nvPr/>
        </p:nvSpPr>
        <p:spPr>
          <a:xfrm>
            <a:off x="6800850" y="41052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usage-based infrastructure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B9BB5963-1F16-4887-858D-E390F4C16535}"/>
              </a:ext>
            </a:extLst>
          </p:cNvPr>
          <p:cNvSpPr>
            <a:spLocks noGrp="1"/>
          </p:cNvSpPr>
          <p:nvPr/>
        </p:nvSpPr>
        <p:spPr>
          <a:xfrm>
            <a:off x="9191625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459D4CB-E628-4849-A66E-22F296FE8341}"/>
              </a:ext>
            </a:extLst>
          </p:cNvPr>
          <p:cNvSpPr>
            <a:spLocks noGrp="1"/>
          </p:cNvSpPr>
          <p:nvPr/>
        </p:nvSpPr>
        <p:spPr>
          <a:xfrm>
            <a:off x="9401175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A78BFA"/>
                </a:solidFill>
              </a:defRPr>
            </a:pPr>
            <a:r>
              <a:rPr sz="1350" b="1">
                <a:solidFill>
                  <a:srgbClr val="A78BFA"/>
                </a:solidFill>
              </a:rPr>
              <a:t>Operations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F08C0A0E-DCFA-4812-BD00-0C8CF39986D5}"/>
              </a:ext>
            </a:extLst>
          </p:cNvPr>
          <p:cNvSpPr>
            <a:spLocks noGrp="1"/>
          </p:cNvSpPr>
          <p:nvPr/>
        </p:nvSpPr>
        <p:spPr>
          <a:xfrm>
            <a:off x="9420225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B5ABF906-9FB1-42B3-809D-4D8F63EA1368}"/>
              </a:ext>
            </a:extLst>
          </p:cNvPr>
          <p:cNvSpPr>
            <a:spLocks noGrp="1"/>
          </p:cNvSpPr>
          <p:nvPr/>
        </p:nvSpPr>
        <p:spPr>
          <a:xfrm>
            <a:off x="9610725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scheduler + runner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49865AF2-63BF-48A6-900C-FF369CC67632}"/>
              </a:ext>
            </a:extLst>
          </p:cNvPr>
          <p:cNvSpPr>
            <a:spLocks noGrp="1"/>
          </p:cNvSpPr>
          <p:nvPr/>
        </p:nvSpPr>
        <p:spPr>
          <a:xfrm>
            <a:off x="9420225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F4FF1F3A-5CFC-4CB4-9AAA-D64CA8145A48}"/>
              </a:ext>
            </a:extLst>
          </p:cNvPr>
          <p:cNvSpPr>
            <a:spLocks noGrp="1"/>
          </p:cNvSpPr>
          <p:nvPr/>
        </p:nvSpPr>
        <p:spPr>
          <a:xfrm>
            <a:off x="9610725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logs and process locks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4A783B07-94EB-4D6A-ABF4-D5B1B10D3EAB}"/>
              </a:ext>
            </a:extLst>
          </p:cNvPr>
          <p:cNvSpPr>
            <a:spLocks noGrp="1"/>
          </p:cNvSpPr>
          <p:nvPr/>
        </p:nvSpPr>
        <p:spPr>
          <a:xfrm>
            <a:off x="9420225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F7981905-82EF-41E4-A48F-3A0A1568F943}"/>
              </a:ext>
            </a:extLst>
          </p:cNvPr>
          <p:cNvSpPr>
            <a:spLocks noGrp="1"/>
          </p:cNvSpPr>
          <p:nvPr/>
        </p:nvSpPr>
        <p:spPr>
          <a:xfrm>
            <a:off x="9610725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Windows Keyring</a:t>
            </a: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5A78F704-8DBC-4BA9-8DD5-C0F1F508C8B3}"/>
              </a:ext>
            </a:extLst>
          </p:cNvPr>
          <p:cNvSpPr>
            <a:spLocks noGrp="1"/>
          </p:cNvSpPr>
          <p:nvPr/>
        </p:nvSpPr>
        <p:spPr>
          <a:xfrm>
            <a:off x="9420225" y="4171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269BD679-35CF-4909-A600-4D2A5E655D54}"/>
              </a:ext>
            </a:extLst>
          </p:cNvPr>
          <p:cNvSpPr>
            <a:spLocks noGrp="1"/>
          </p:cNvSpPr>
          <p:nvPr/>
        </p:nvSpPr>
        <p:spPr>
          <a:xfrm>
            <a:off x="9610725" y="41052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Telegram monitoring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C01C10DF-05ED-422C-AF85-E8FFBDE7E1E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Development and operating environment | 9 July 2026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F3EF2413-E84C-481C-9F77-1F712C3AA153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7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4E7D0EC3-303E-7055-086E-8F375ED1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8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tangolo 43">
            <a:extLst>
              <a:ext uri="{FF2B5EF4-FFF2-40B4-BE49-F238E27FC236}">
                <a16:creationId xmlns:a16="http://schemas.microsoft.com/office/drawing/2014/main" id="{01BA842D-4EB9-458A-AB56-D04EB11FDC5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COMPETITOR LANDSCAPE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219916E-CD73-412B-B84C-C7A0B19F61D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A differentiated position across categories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B6C1074-CF25-4B87-8B12-11DF7235B6F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 dirty="0" err="1">
                <a:solidFill>
                  <a:srgbClr val="CBD5E1"/>
                </a:solidFill>
              </a:rPr>
              <a:t>eSEG</a:t>
            </a:r>
            <a:r>
              <a:rPr lang="it-IT" sz="1200" dirty="0">
                <a:solidFill>
                  <a:srgbClr val="CBD5E1"/>
                </a:solidFill>
              </a:rPr>
              <a:t>u</a:t>
            </a:r>
            <a:r>
              <a:rPr sz="1200" dirty="0">
                <a:solidFill>
                  <a:srgbClr val="CBD5E1"/>
                </a:solidFill>
              </a:rPr>
              <a:t>E sits between institutional signal intelligence, retail automation and developer infrastructure, combining selected strengths of each category.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D56ADDA-72A2-4D79-A729-7822A17C8919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79D9112-70D5-4B54-9247-608F2DD5F1B1}"/>
              </a:ext>
            </a:extLst>
          </p:cNvPr>
          <p:cNvSpPr>
            <a:spLocks noGrp="1"/>
          </p:cNvSpPr>
          <p:nvPr/>
        </p:nvSpPr>
        <p:spPr>
          <a:xfrm>
            <a:off x="971550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Axyon AI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3EAF625-468B-4288-A102-7999281B754C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1A4D728-E113-45CB-879F-1B22673484B2}"/>
              </a:ext>
            </a:extLst>
          </p:cNvPr>
          <p:cNvSpPr>
            <a:spLocks noGrp="1"/>
          </p:cNvSpPr>
          <p:nvPr/>
        </p:nvSpPr>
        <p:spPr>
          <a:xfrm>
            <a:off x="1181100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institutional focus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54AAA2C-8D03-49C3-AF3E-8FD40C777AE5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65B5CF8-9E7E-417D-8C97-F57BB214EF6C}"/>
              </a:ext>
            </a:extLst>
          </p:cNvPr>
          <p:cNvSpPr>
            <a:spLocks noGrp="1"/>
          </p:cNvSpPr>
          <p:nvPr/>
        </p:nvSpPr>
        <p:spPr>
          <a:xfrm>
            <a:off x="1181100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predictive rankings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4BCD277-781A-4DE5-B346-BEFF7D8DA6E6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EE6D62D-EB10-4D85-ABC8-FCCCFE7807F2}"/>
              </a:ext>
            </a:extLst>
          </p:cNvPr>
          <p:cNvSpPr>
            <a:spLocks noGrp="1"/>
          </p:cNvSpPr>
          <p:nvPr/>
        </p:nvSpPr>
        <p:spPr>
          <a:xfrm>
            <a:off x="1181100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AI-powered strategies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E1A5181C-A16B-44F4-9DD1-3DCB832D1876}"/>
              </a:ext>
            </a:extLst>
          </p:cNvPr>
          <p:cNvSpPr>
            <a:spLocks noGrp="1"/>
          </p:cNvSpPr>
          <p:nvPr/>
        </p:nvSpPr>
        <p:spPr>
          <a:xfrm>
            <a:off x="3571875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7EDA877-AE6E-49BE-B8ED-483876981F05}"/>
              </a:ext>
            </a:extLst>
          </p:cNvPr>
          <p:cNvSpPr>
            <a:spLocks noGrp="1"/>
          </p:cNvSpPr>
          <p:nvPr/>
        </p:nvSpPr>
        <p:spPr>
          <a:xfrm>
            <a:off x="3781425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Composer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9ED44A5-189C-4BA5-B40E-945B909B0A82}"/>
              </a:ext>
            </a:extLst>
          </p:cNvPr>
          <p:cNvSpPr>
            <a:spLocks noGrp="1"/>
          </p:cNvSpPr>
          <p:nvPr/>
        </p:nvSpPr>
        <p:spPr>
          <a:xfrm>
            <a:off x="3800475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F0046FB-0DD7-4831-B651-0B5F92C0AEDE}"/>
              </a:ext>
            </a:extLst>
          </p:cNvPr>
          <p:cNvSpPr>
            <a:spLocks noGrp="1"/>
          </p:cNvSpPr>
          <p:nvPr/>
        </p:nvSpPr>
        <p:spPr>
          <a:xfrm>
            <a:off x="3990975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natural-language design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69CCE0F-D3EC-4ADE-9853-1931A7145FB6}"/>
              </a:ext>
            </a:extLst>
          </p:cNvPr>
          <p:cNvSpPr>
            <a:spLocks noGrp="1"/>
          </p:cNvSpPr>
          <p:nvPr/>
        </p:nvSpPr>
        <p:spPr>
          <a:xfrm>
            <a:off x="3800475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520607C-679D-4C78-9AD0-4B21737C3714}"/>
              </a:ext>
            </a:extLst>
          </p:cNvPr>
          <p:cNvSpPr>
            <a:spLocks noGrp="1"/>
          </p:cNvSpPr>
          <p:nvPr/>
        </p:nvSpPr>
        <p:spPr>
          <a:xfrm>
            <a:off x="3990975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automated execution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F390932-84DE-40EB-BFC1-E965DE0D1714}"/>
              </a:ext>
            </a:extLst>
          </p:cNvPr>
          <p:cNvSpPr>
            <a:spLocks noGrp="1"/>
          </p:cNvSpPr>
          <p:nvPr/>
        </p:nvSpPr>
        <p:spPr>
          <a:xfrm>
            <a:off x="3800475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AA5AB7FC-EAAE-480E-8A1E-B9A4C8C14575}"/>
              </a:ext>
            </a:extLst>
          </p:cNvPr>
          <p:cNvSpPr>
            <a:spLocks noGrp="1"/>
          </p:cNvSpPr>
          <p:nvPr/>
        </p:nvSpPr>
        <p:spPr>
          <a:xfrm>
            <a:off x="3990975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integrated brokerage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9FE2BDD6-7E1C-47CA-B648-C17DEFD78041}"/>
              </a:ext>
            </a:extLst>
          </p:cNvPr>
          <p:cNvSpPr>
            <a:spLocks noGrp="1"/>
          </p:cNvSpPr>
          <p:nvPr/>
        </p:nvSpPr>
        <p:spPr>
          <a:xfrm>
            <a:off x="3800475" y="4171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7B1FD2F-FFB4-4433-997D-FE6F5111D966}"/>
              </a:ext>
            </a:extLst>
          </p:cNvPr>
          <p:cNvSpPr>
            <a:spLocks noGrp="1"/>
          </p:cNvSpPr>
          <p:nvPr/>
        </p:nvSpPr>
        <p:spPr>
          <a:xfrm>
            <a:off x="3990975" y="41052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retail-first workflow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15B69DA6-20C9-492A-8CCE-1F11CEDB29AE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CCA046C9-0231-4FC9-B9A4-4618EEC4CBB8}"/>
              </a:ext>
            </a:extLst>
          </p:cNvPr>
          <p:cNvSpPr>
            <a:spLocks noGrp="1"/>
          </p:cNvSpPr>
          <p:nvPr/>
        </p:nvSpPr>
        <p:spPr>
          <a:xfrm>
            <a:off x="6591300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Tickeron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3233DBB-A11A-4B7A-A062-C8917B88B0B0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9D2A46F6-FF09-4E9C-92D3-A10C5A978862}"/>
              </a:ext>
            </a:extLst>
          </p:cNvPr>
          <p:cNvSpPr>
            <a:spLocks noGrp="1"/>
          </p:cNvSpPr>
          <p:nvPr/>
        </p:nvSpPr>
        <p:spPr>
          <a:xfrm>
            <a:off x="6800850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AI agents and bots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6EF2E73B-0A55-4E06-81C4-5683DA946455}"/>
              </a:ext>
            </a:extLst>
          </p:cNvPr>
          <p:cNvSpPr>
            <a:spLocks noGrp="1"/>
          </p:cNvSpPr>
          <p:nvPr/>
        </p:nvSpPr>
        <p:spPr>
          <a:xfrm>
            <a:off x="6610350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D46989D-56CA-4DFC-94D3-E5977E711D96}"/>
              </a:ext>
            </a:extLst>
          </p:cNvPr>
          <p:cNvSpPr>
            <a:spLocks noGrp="1"/>
          </p:cNvSpPr>
          <p:nvPr/>
        </p:nvSpPr>
        <p:spPr>
          <a:xfrm>
            <a:off x="6800850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forecasting tools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F7F6D1A8-C3C9-4D05-93AD-5E54E9AE8E64}"/>
              </a:ext>
            </a:extLst>
          </p:cNvPr>
          <p:cNvSpPr>
            <a:spLocks noGrp="1"/>
          </p:cNvSpPr>
          <p:nvPr/>
        </p:nvSpPr>
        <p:spPr>
          <a:xfrm>
            <a:off x="6610350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EAD1C6E5-22A6-410F-B406-2DF51EF88EA7}"/>
              </a:ext>
            </a:extLst>
          </p:cNvPr>
          <p:cNvSpPr>
            <a:spLocks noGrp="1"/>
          </p:cNvSpPr>
          <p:nvPr/>
        </p:nvSpPr>
        <p:spPr>
          <a:xfrm>
            <a:off x="6800850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patterns and screeners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3258E32E-D805-433E-9E66-0EB6B832E37C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5871EF3-F64B-45AA-A9AE-D1F2D3AD49C8}"/>
              </a:ext>
            </a:extLst>
          </p:cNvPr>
          <p:cNvSpPr>
            <a:spLocks noGrp="1"/>
          </p:cNvSpPr>
          <p:nvPr/>
        </p:nvSpPr>
        <p:spPr>
          <a:xfrm>
            <a:off x="6800850" y="41052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retail marketplace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B9BB5963-1F16-4887-858D-E390F4C16535}"/>
              </a:ext>
            </a:extLst>
          </p:cNvPr>
          <p:cNvSpPr>
            <a:spLocks noGrp="1"/>
          </p:cNvSpPr>
          <p:nvPr/>
        </p:nvSpPr>
        <p:spPr>
          <a:xfrm>
            <a:off x="9191625" y="2190750"/>
            <a:ext cx="2333625" cy="3000375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459D4CB-E628-4849-A66E-22F296FE8341}"/>
              </a:ext>
            </a:extLst>
          </p:cNvPr>
          <p:cNvSpPr>
            <a:spLocks noGrp="1"/>
          </p:cNvSpPr>
          <p:nvPr/>
        </p:nvSpPr>
        <p:spPr>
          <a:xfrm>
            <a:off x="9401175" y="2419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A78BFA"/>
                </a:solidFill>
              </a:defRPr>
            </a:pPr>
            <a:r>
              <a:rPr sz="1350" b="1" dirty="0" err="1">
                <a:solidFill>
                  <a:srgbClr val="A78BFA"/>
                </a:solidFill>
              </a:rPr>
              <a:t>eSEG</a:t>
            </a:r>
            <a:r>
              <a:rPr lang="it-IT" sz="1350" b="1" dirty="0">
                <a:solidFill>
                  <a:srgbClr val="A78BFA"/>
                </a:solidFill>
              </a:rPr>
              <a:t>u</a:t>
            </a:r>
            <a:r>
              <a:rPr sz="1350" b="1" dirty="0">
                <a:solidFill>
                  <a:srgbClr val="A78BFA"/>
                </a:solidFill>
              </a:rPr>
              <a:t>E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F08C0A0E-DCFA-4812-BD00-0C8CF39986D5}"/>
              </a:ext>
            </a:extLst>
          </p:cNvPr>
          <p:cNvSpPr>
            <a:spLocks noGrp="1"/>
          </p:cNvSpPr>
          <p:nvPr/>
        </p:nvSpPr>
        <p:spPr>
          <a:xfrm>
            <a:off x="9420225" y="29718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B5ABF906-9FB1-42B3-809D-4D8F63EA1368}"/>
              </a:ext>
            </a:extLst>
          </p:cNvPr>
          <p:cNvSpPr>
            <a:spLocks noGrp="1"/>
          </p:cNvSpPr>
          <p:nvPr/>
        </p:nvSpPr>
        <p:spPr>
          <a:xfrm>
            <a:off x="9610725" y="29051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dual decision engines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49865AF2-63BF-48A6-900C-FF369CC67632}"/>
              </a:ext>
            </a:extLst>
          </p:cNvPr>
          <p:cNvSpPr>
            <a:spLocks noGrp="1"/>
          </p:cNvSpPr>
          <p:nvPr/>
        </p:nvSpPr>
        <p:spPr>
          <a:xfrm>
            <a:off x="9420225" y="3371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F4FF1F3A-5CFC-4CB4-9AAA-D64CA8145A48}"/>
              </a:ext>
            </a:extLst>
          </p:cNvPr>
          <p:cNvSpPr>
            <a:spLocks noGrp="1"/>
          </p:cNvSpPr>
          <p:nvPr/>
        </p:nvSpPr>
        <p:spPr>
          <a:xfrm>
            <a:off x="9610725" y="33051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context + opportunity ranking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4A783B07-94EB-4D6A-ABF4-D5B1B10D3EAB}"/>
              </a:ext>
            </a:extLst>
          </p:cNvPr>
          <p:cNvSpPr>
            <a:spLocks noGrp="1"/>
          </p:cNvSpPr>
          <p:nvPr/>
        </p:nvSpPr>
        <p:spPr>
          <a:xfrm>
            <a:off x="9420225" y="3771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F7981905-82EF-41E4-A48F-3A0A1568F943}"/>
              </a:ext>
            </a:extLst>
          </p:cNvPr>
          <p:cNvSpPr>
            <a:spLocks noGrp="1"/>
          </p:cNvSpPr>
          <p:nvPr/>
        </p:nvSpPr>
        <p:spPr>
          <a:xfrm>
            <a:off x="9610725" y="37052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IB execution + evidence loop</a:t>
            </a: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5A78F704-8DBC-4BA9-8DD5-C0F1F508C8B3}"/>
              </a:ext>
            </a:extLst>
          </p:cNvPr>
          <p:cNvSpPr>
            <a:spLocks noGrp="1"/>
          </p:cNvSpPr>
          <p:nvPr/>
        </p:nvSpPr>
        <p:spPr>
          <a:xfrm>
            <a:off x="9420225" y="41719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269BD679-35CF-4909-A600-4D2A5E655D54}"/>
              </a:ext>
            </a:extLst>
          </p:cNvPr>
          <p:cNvSpPr>
            <a:spLocks noGrp="1"/>
          </p:cNvSpPr>
          <p:nvPr/>
        </p:nvSpPr>
        <p:spPr>
          <a:xfrm>
            <a:off x="9610725" y="41052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private deployable stack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C01C10DF-05ED-422C-AF85-E8FFBDE7E1E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Sources: axyon.ai | composer.trade | tickeron.com | accessed 9 July 2026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F3EF2413-E84C-481C-9F77-1F712C3AA153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8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9865B6EC-F3CC-5C74-20A7-C992571BE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8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32BD1-4E88-A30D-C0D2-4632D19E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23">
            <a:extLst>
              <a:ext uri="{FF2B5EF4-FFF2-40B4-BE49-F238E27FC236}">
                <a16:creationId xmlns:a16="http://schemas.microsoft.com/office/drawing/2014/main" id="{129C3328-A45F-A908-65FE-33933CC770C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Investor roadmap | 9 July 2026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E866FD72-0FA1-22AE-6A88-17E02A57D1AE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9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80C00785-F4EC-3E64-2B96-9470DC21D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  <p:sp>
        <p:nvSpPr>
          <p:cNvPr id="29" name="TextBox 1">
            <a:extLst>
              <a:ext uri="{FF2B5EF4-FFF2-40B4-BE49-F238E27FC236}">
                <a16:creationId xmlns:a16="http://schemas.microsoft.com/office/drawing/2014/main" id="{5C2669CB-9E9E-11ED-91E1-9180829481B4}"/>
              </a:ext>
            </a:extLst>
          </p:cNvPr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7C8A0"/>
                </a:solidFill>
                <a:latin typeface="Aptos"/>
              </a:rPr>
              <a:t>RECENT PLATFORM UPGRADES</a:t>
            </a:r>
          </a:p>
        </p:txBody>
      </p:sp>
      <p:sp>
        <p:nvSpPr>
          <p:cNvPr id="31" name="TextBox 2">
            <a:extLst>
              <a:ext uri="{FF2B5EF4-FFF2-40B4-BE49-F238E27FC236}">
                <a16:creationId xmlns:a16="http://schemas.microsoft.com/office/drawing/2014/main" id="{0604742D-FBC5-5AA5-D6D0-41C03D86C1D5}"/>
              </a:ext>
            </a:extLst>
          </p:cNvPr>
          <p:cNvSpPr txBox="1"/>
          <p:nvPr/>
        </p:nvSpPr>
        <p:spPr>
          <a:xfrm>
            <a:off x="502920" y="841248"/>
            <a:ext cx="701339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"/>
              </a:rPr>
              <a:t>From signal engine to broader decision </a:t>
            </a:r>
            <a:endParaRPr lang="it-IT" sz="3000" b="1" dirty="0">
              <a:solidFill>
                <a:srgbClr val="FFFFFF"/>
              </a:solidFill>
              <a:latin typeface="Aptos"/>
            </a:endParaRPr>
          </a:p>
          <a:p>
            <a:r>
              <a:rPr sz="3000" b="1" dirty="0">
                <a:solidFill>
                  <a:srgbClr val="FFFFFF"/>
                </a:solidFill>
                <a:latin typeface="Aptos"/>
              </a:rPr>
              <a:t>infrastructure</a:t>
            </a: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2299DF64-417A-391E-512A-CF4D10BCF2EA}"/>
              </a:ext>
            </a:extLst>
          </p:cNvPr>
          <p:cNvSpPr txBox="1"/>
          <p:nvPr/>
        </p:nvSpPr>
        <p:spPr>
          <a:xfrm>
            <a:off x="530352" y="1746943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ED2E6"/>
                </a:solidFill>
                <a:latin typeface="Aptos"/>
              </a:rPr>
              <a:t>Updated 9 July 2026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6A46A83C-35A6-3C49-A51A-4F3746ABCC38}"/>
              </a:ext>
            </a:extLst>
          </p:cNvPr>
          <p:cNvSpPr/>
          <p:nvPr/>
        </p:nvSpPr>
        <p:spPr>
          <a:xfrm>
            <a:off x="640080" y="2148840"/>
            <a:ext cx="10972800" cy="566928"/>
          </a:xfrm>
          <a:prstGeom prst="rect">
            <a:avLst/>
          </a:prstGeom>
          <a:solidFill>
            <a:srgbClr val="122D48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DA6CEE85-B762-9F48-B0CE-7D20066958F3}"/>
              </a:ext>
            </a:extLst>
          </p:cNvPr>
          <p:cNvSpPr txBox="1"/>
          <p:nvPr/>
        </p:nvSpPr>
        <p:spPr>
          <a:xfrm>
            <a:off x="841248" y="2267712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7C8A0"/>
                </a:solidFill>
                <a:latin typeface="Aptos"/>
              </a:rPr>
              <a:t>01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E5EBB78C-99A3-010D-B32B-7E0D9BEE4390}"/>
              </a:ext>
            </a:extLst>
          </p:cNvPr>
          <p:cNvSpPr txBox="1"/>
          <p:nvPr/>
        </p:nvSpPr>
        <p:spPr>
          <a:xfrm>
            <a:off x="1417320" y="2231136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Fundamental value layer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3B7FC26A-371E-979F-A951-8684B4CE0F40}"/>
              </a:ext>
            </a:extLst>
          </p:cNvPr>
          <p:cNvSpPr txBox="1"/>
          <p:nvPr/>
        </p:nvSpPr>
        <p:spPr>
          <a:xfrm>
            <a:off x="4251960" y="2221992"/>
            <a:ext cx="685059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dirty="0">
                <a:solidFill>
                  <a:srgbClr val="DCE6F0"/>
                </a:solidFill>
                <a:latin typeface="Aptos"/>
              </a:rPr>
              <a:t>Target price, margin of safety, DCF light, TBV weighting and IQS are now produced as a standalone</a:t>
            </a:r>
            <a:endParaRPr lang="it-IT" sz="1250" b="0" dirty="0">
              <a:solidFill>
                <a:srgbClr val="DCE6F0"/>
              </a:solidFill>
              <a:latin typeface="Aptos"/>
            </a:endParaRPr>
          </a:p>
          <a:p>
            <a:r>
              <a:rPr sz="1250" b="0" dirty="0">
                <a:solidFill>
                  <a:srgbClr val="DCE6F0"/>
                </a:solidFill>
                <a:latin typeface="Aptos"/>
              </a:rPr>
              <a:t>Excel report.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458567AE-8777-8303-504F-35B828B2505C}"/>
              </a:ext>
            </a:extLst>
          </p:cNvPr>
          <p:cNvSpPr/>
          <p:nvPr/>
        </p:nvSpPr>
        <p:spPr>
          <a:xfrm>
            <a:off x="640080" y="2898648"/>
            <a:ext cx="10972800" cy="566928"/>
          </a:xfrm>
          <a:prstGeom prst="rect">
            <a:avLst/>
          </a:prstGeom>
          <a:solidFill>
            <a:srgbClr val="122D48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DA7B9525-03C7-1433-487F-E413749D281D}"/>
              </a:ext>
            </a:extLst>
          </p:cNvPr>
          <p:cNvSpPr txBox="1"/>
          <p:nvPr/>
        </p:nvSpPr>
        <p:spPr>
          <a:xfrm>
            <a:off x="841248" y="3017520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7C8A0"/>
                </a:solidFill>
                <a:latin typeface="Aptos"/>
              </a:rPr>
              <a:t>02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61E884AF-CEDB-CBB9-CFCE-716DA2BD88B8}"/>
              </a:ext>
            </a:extLst>
          </p:cNvPr>
          <p:cNvSpPr txBox="1"/>
          <p:nvPr/>
        </p:nvSpPr>
        <p:spPr>
          <a:xfrm>
            <a:off x="1417320" y="2980944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Breakout execution regime</a:t>
            </a:r>
          </a:p>
        </p:txBody>
      </p:sp>
      <p:sp>
        <p:nvSpPr>
          <p:cNvPr id="49" name="TextBox 11">
            <a:extLst>
              <a:ext uri="{FF2B5EF4-FFF2-40B4-BE49-F238E27FC236}">
                <a16:creationId xmlns:a16="http://schemas.microsoft.com/office/drawing/2014/main" id="{A87F985F-C5DF-7A6A-E931-95E2071668BB}"/>
              </a:ext>
            </a:extLst>
          </p:cNvPr>
          <p:cNvSpPr txBox="1"/>
          <p:nvPr/>
        </p:nvSpPr>
        <p:spPr>
          <a:xfrm>
            <a:off x="4251960" y="2971800"/>
            <a:ext cx="647318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dirty="0">
                <a:solidFill>
                  <a:srgbClr val="DCE6F0"/>
                </a:solidFill>
                <a:latin typeface="Aptos"/>
              </a:rPr>
              <a:t>The equity engine now reads LONG/SHORT tape health and can block long-only execution in</a:t>
            </a:r>
            <a:endParaRPr lang="it-IT" sz="1250" b="0" dirty="0">
              <a:solidFill>
                <a:srgbClr val="DCE6F0"/>
              </a:solidFill>
              <a:latin typeface="Aptos"/>
            </a:endParaRPr>
          </a:p>
          <a:p>
            <a:r>
              <a:rPr sz="1250" b="0" dirty="0">
                <a:solidFill>
                  <a:srgbClr val="DCE6F0"/>
                </a:solidFill>
                <a:latin typeface="Aptos"/>
              </a:rPr>
              <a:t>BREAKOUT_RISK_OFF conditions.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38F0FBF5-563E-B09C-6E1A-53CCC6FDA8CC}"/>
              </a:ext>
            </a:extLst>
          </p:cNvPr>
          <p:cNvSpPr/>
          <p:nvPr/>
        </p:nvSpPr>
        <p:spPr>
          <a:xfrm>
            <a:off x="640080" y="3648456"/>
            <a:ext cx="10972800" cy="566928"/>
          </a:xfrm>
          <a:prstGeom prst="rect">
            <a:avLst/>
          </a:prstGeom>
          <a:solidFill>
            <a:srgbClr val="122D48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3">
            <a:extLst>
              <a:ext uri="{FF2B5EF4-FFF2-40B4-BE49-F238E27FC236}">
                <a16:creationId xmlns:a16="http://schemas.microsoft.com/office/drawing/2014/main" id="{3015C591-2FF6-ACCA-D8DA-3FF75AB38283}"/>
              </a:ext>
            </a:extLst>
          </p:cNvPr>
          <p:cNvSpPr txBox="1"/>
          <p:nvPr/>
        </p:nvSpPr>
        <p:spPr>
          <a:xfrm>
            <a:off x="841248" y="3767328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7C8A0"/>
                </a:solidFill>
                <a:latin typeface="Aptos"/>
              </a:rPr>
              <a:t>03</a:t>
            </a:r>
          </a:p>
        </p:txBody>
      </p:sp>
      <p:sp>
        <p:nvSpPr>
          <p:cNvPr id="55" name="TextBox 14">
            <a:extLst>
              <a:ext uri="{FF2B5EF4-FFF2-40B4-BE49-F238E27FC236}">
                <a16:creationId xmlns:a16="http://schemas.microsoft.com/office/drawing/2014/main" id="{68F7BA64-2AE8-BF0B-8BE5-2B3E99B3738F}"/>
              </a:ext>
            </a:extLst>
          </p:cNvPr>
          <p:cNvSpPr txBox="1"/>
          <p:nvPr/>
        </p:nvSpPr>
        <p:spPr>
          <a:xfrm>
            <a:off x="1417320" y="3730752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Volatility probability engine</a:t>
            </a: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F37C8A5A-8A06-81FB-4F07-F1D9F02A3610}"/>
              </a:ext>
            </a:extLst>
          </p:cNvPr>
          <p:cNvSpPr txBox="1"/>
          <p:nvPr/>
        </p:nvSpPr>
        <p:spPr>
          <a:xfrm>
            <a:off x="4251960" y="3721608"/>
            <a:ext cx="721434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dirty="0">
                <a:solidFill>
                  <a:srgbClr val="DCE6F0"/>
                </a:solidFill>
                <a:latin typeface="Aptos"/>
              </a:rPr>
              <a:t>A separate candidate pipeline tracks probabilistic setups, Telegram top 10, strategy tags and dedicated</a:t>
            </a:r>
            <a:endParaRPr lang="it-IT" sz="1250" b="0" dirty="0">
              <a:solidFill>
                <a:srgbClr val="DCE6F0"/>
              </a:solidFill>
              <a:latin typeface="Aptos"/>
            </a:endParaRPr>
          </a:p>
          <a:p>
            <a:r>
              <a:rPr sz="1250" b="0" dirty="0">
                <a:solidFill>
                  <a:srgbClr val="DCE6F0"/>
                </a:solidFill>
                <a:latin typeface="Aptos"/>
              </a:rPr>
              <a:t>execution constraints.</a:t>
            </a:r>
          </a:p>
        </p:txBody>
      </p:sp>
      <p:sp>
        <p:nvSpPr>
          <p:cNvPr id="59" name="Rectangle 16">
            <a:extLst>
              <a:ext uri="{FF2B5EF4-FFF2-40B4-BE49-F238E27FC236}">
                <a16:creationId xmlns:a16="http://schemas.microsoft.com/office/drawing/2014/main" id="{4ED71CEB-1306-3AD0-C6F1-8E5C9CAF9D85}"/>
              </a:ext>
            </a:extLst>
          </p:cNvPr>
          <p:cNvSpPr/>
          <p:nvPr/>
        </p:nvSpPr>
        <p:spPr>
          <a:xfrm>
            <a:off x="640080" y="4398264"/>
            <a:ext cx="10972800" cy="566928"/>
          </a:xfrm>
          <a:prstGeom prst="rect">
            <a:avLst/>
          </a:prstGeom>
          <a:solidFill>
            <a:srgbClr val="122D48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24BA8C8F-0FE6-1496-6F09-3288DB75E812}"/>
              </a:ext>
            </a:extLst>
          </p:cNvPr>
          <p:cNvSpPr txBox="1"/>
          <p:nvPr/>
        </p:nvSpPr>
        <p:spPr>
          <a:xfrm>
            <a:off x="841248" y="4517136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7C8A0"/>
                </a:solidFill>
                <a:latin typeface="Aptos"/>
              </a:rPr>
              <a:t>04</a:t>
            </a:r>
          </a:p>
        </p:txBody>
      </p:sp>
      <p:sp>
        <p:nvSpPr>
          <p:cNvPr id="63" name="TextBox 18">
            <a:extLst>
              <a:ext uri="{FF2B5EF4-FFF2-40B4-BE49-F238E27FC236}">
                <a16:creationId xmlns:a16="http://schemas.microsoft.com/office/drawing/2014/main" id="{B1A76AEF-08D9-FCC0-2E5F-21CE14C9AA15}"/>
              </a:ext>
            </a:extLst>
          </p:cNvPr>
          <p:cNvSpPr txBox="1"/>
          <p:nvPr/>
        </p:nvSpPr>
        <p:spPr>
          <a:xfrm>
            <a:off x="1417320" y="448056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Cross-asset rotations</a:t>
            </a:r>
          </a:p>
        </p:txBody>
      </p:sp>
      <p:sp>
        <p:nvSpPr>
          <p:cNvPr id="65" name="TextBox 19">
            <a:extLst>
              <a:ext uri="{FF2B5EF4-FFF2-40B4-BE49-F238E27FC236}">
                <a16:creationId xmlns:a16="http://schemas.microsoft.com/office/drawing/2014/main" id="{F4536632-0D5D-C303-FFD5-411C07D62A68}"/>
              </a:ext>
            </a:extLst>
          </p:cNvPr>
          <p:cNvSpPr txBox="1"/>
          <p:nvPr/>
        </p:nvSpPr>
        <p:spPr>
          <a:xfrm>
            <a:off x="4251960" y="4471416"/>
            <a:ext cx="6903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DCE6F0"/>
                </a:solidFill>
                <a:latin typeface="Aptos"/>
              </a:rPr>
              <a:t>The regime engine now covers futures/ETF sleeves plus USA and Europe growth-vs-value rotation.</a:t>
            </a:r>
          </a:p>
        </p:txBody>
      </p:sp>
      <p:sp>
        <p:nvSpPr>
          <p:cNvPr id="67" name="Rectangle 20">
            <a:extLst>
              <a:ext uri="{FF2B5EF4-FFF2-40B4-BE49-F238E27FC236}">
                <a16:creationId xmlns:a16="http://schemas.microsoft.com/office/drawing/2014/main" id="{66FA1784-9501-024B-969C-F475A4C20A2A}"/>
              </a:ext>
            </a:extLst>
          </p:cNvPr>
          <p:cNvSpPr/>
          <p:nvPr/>
        </p:nvSpPr>
        <p:spPr>
          <a:xfrm>
            <a:off x="640080" y="5148072"/>
            <a:ext cx="10972800" cy="566928"/>
          </a:xfrm>
          <a:prstGeom prst="rect">
            <a:avLst/>
          </a:prstGeom>
          <a:solidFill>
            <a:srgbClr val="122D48"/>
          </a:solidFill>
          <a:ln>
            <a:solidFill>
              <a:srgbClr val="46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C039EC5-A4BB-EDA6-C2F1-2DFC8481D089}"/>
              </a:ext>
            </a:extLst>
          </p:cNvPr>
          <p:cNvSpPr txBox="1"/>
          <p:nvPr/>
        </p:nvSpPr>
        <p:spPr>
          <a:xfrm>
            <a:off x="841248" y="5266944"/>
            <a:ext cx="384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7C8A0"/>
                </a:solidFill>
                <a:latin typeface="Aptos"/>
              </a:rPr>
              <a:t>05</a:t>
            </a: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B45E3E76-30AF-6047-2791-D459EA33CF68}"/>
              </a:ext>
            </a:extLst>
          </p:cNvPr>
          <p:cNvSpPr txBox="1"/>
          <p:nvPr/>
        </p:nvSpPr>
        <p:spPr>
          <a:xfrm>
            <a:off x="1417320" y="523036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Reporting depth</a:t>
            </a:r>
          </a:p>
        </p:txBody>
      </p:sp>
      <p:sp>
        <p:nvSpPr>
          <p:cNvPr id="73" name="TextBox 23">
            <a:extLst>
              <a:ext uri="{FF2B5EF4-FFF2-40B4-BE49-F238E27FC236}">
                <a16:creationId xmlns:a16="http://schemas.microsoft.com/office/drawing/2014/main" id="{0E989A6C-1BA0-3979-2A34-9B2C0F86EC81}"/>
              </a:ext>
            </a:extLst>
          </p:cNvPr>
          <p:cNvSpPr txBox="1"/>
          <p:nvPr/>
        </p:nvSpPr>
        <p:spPr>
          <a:xfrm>
            <a:off x="4251960" y="5221224"/>
            <a:ext cx="686950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 dirty="0">
                <a:solidFill>
                  <a:srgbClr val="DCE6F0"/>
                </a:solidFill>
                <a:latin typeface="Aptos"/>
              </a:rPr>
              <a:t>Period reports now rely on IB statements, include broader economics and prepare for TWR-based </a:t>
            </a:r>
            <a:endParaRPr lang="it-IT" sz="1250" b="0" dirty="0">
              <a:solidFill>
                <a:srgbClr val="DCE6F0"/>
              </a:solidFill>
              <a:latin typeface="Aptos"/>
            </a:endParaRPr>
          </a:p>
          <a:p>
            <a:r>
              <a:rPr sz="1250" b="0" dirty="0">
                <a:solidFill>
                  <a:srgbClr val="DCE6F0"/>
                </a:solidFill>
                <a:latin typeface="Aptos"/>
              </a:rPr>
              <a:t>portfolio evaluation.</a:t>
            </a:r>
          </a:p>
        </p:txBody>
      </p:sp>
    </p:spTree>
    <p:extLst>
      <p:ext uri="{BB962C8B-B14F-4D97-AF65-F5344CB8AC3E}">
        <p14:creationId xmlns:p14="http://schemas.microsoft.com/office/powerpoint/2010/main" val="1154460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tangolo 25">
            <a:extLst>
              <a:ext uri="{FF2B5EF4-FFF2-40B4-BE49-F238E27FC236}">
                <a16:creationId xmlns:a16="http://schemas.microsoft.com/office/drawing/2014/main" id="{337D87BB-3409-40F0-9014-284A7F741A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38BDF8"/>
                </a:solidFill>
              </a:defRPr>
            </a:pPr>
            <a:r>
              <a:rPr sz="825" b="1">
                <a:solidFill>
                  <a:srgbClr val="38BDF8"/>
                </a:solidFill>
              </a:rPr>
              <a:t>NEXT STEPS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F39BEBC-BEC5-4FA0-AD6C-166D2BCC93A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From engineering proof to investable platform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816EE76-19A5-41E1-9F4B-4759D8208EF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19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The roadmap prioritizes evidence quality, portfolio controls, reliable operations and disciplined productization.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EA60C34-DD18-408B-B402-E15B1F677408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028700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E5E6D05-8177-4AA9-97AB-D2ACC46CC1C0}"/>
              </a:ext>
            </a:extLst>
          </p:cNvPr>
          <p:cNvSpPr>
            <a:spLocks noGrp="1"/>
          </p:cNvSpPr>
          <p:nvPr/>
        </p:nvSpPr>
        <p:spPr>
          <a:xfrm>
            <a:off x="1066800" y="21240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07023D3-0A90-48FA-A71F-EA1F18D4BDAB}"/>
              </a:ext>
            </a:extLst>
          </p:cNvPr>
          <p:cNvSpPr>
            <a:spLocks noGrp="1"/>
          </p:cNvSpPr>
          <p:nvPr/>
        </p:nvSpPr>
        <p:spPr>
          <a:xfrm>
            <a:off x="1619250" y="21050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Extend validation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6135AE4-F4CD-4EB5-AD50-EACCB61A371A}"/>
              </a:ext>
            </a:extLst>
          </p:cNvPr>
          <p:cNvSpPr>
            <a:spLocks noGrp="1"/>
          </p:cNvSpPr>
          <p:nvPr/>
        </p:nvSpPr>
        <p:spPr>
          <a:xfrm>
            <a:off x="4953000" y="2124075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Longer forward samples, out-of-sample protocols and full transaction-cost analysis.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186B838-2AF6-4BE6-8B98-AB7E84F42668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1028700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4074A77-0FDB-493C-B274-99C3CC2E63B0}"/>
              </a:ext>
            </a:extLst>
          </p:cNvPr>
          <p:cNvSpPr>
            <a:spLocks noGrp="1"/>
          </p:cNvSpPr>
          <p:nvPr/>
        </p:nvSpPr>
        <p:spPr>
          <a:xfrm>
            <a:off x="1066800" y="28670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38BDF8"/>
                </a:solidFill>
              </a:defRPr>
            </a:pPr>
            <a:r>
              <a:rPr sz="165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7244B4F-E4D6-4739-8645-858482D064F7}"/>
              </a:ext>
            </a:extLst>
          </p:cNvPr>
          <p:cNvSpPr>
            <a:spLocks noGrp="1"/>
          </p:cNvSpPr>
          <p:nvPr/>
        </p:nvSpPr>
        <p:spPr>
          <a:xfrm>
            <a:off x="1619250" y="28479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Strengthen portfolio risk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655B1DF-D784-4515-8A77-EF2E00470810}"/>
              </a:ext>
            </a:extLst>
          </p:cNvPr>
          <p:cNvSpPr>
            <a:spLocks noGrp="1"/>
          </p:cNvSpPr>
          <p:nvPr/>
        </p:nvSpPr>
        <p:spPr>
          <a:xfrm>
            <a:off x="4953000" y="2867025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Aggregate limits, exit policies, scenario analysis and tail-risk testing.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C779DE0-CF38-40E1-8217-AB3C9F8C71C4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28700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BFB8747-F32C-41E3-9B09-BDD35FD23D73}"/>
              </a:ext>
            </a:extLst>
          </p:cNvPr>
          <p:cNvSpPr>
            <a:spLocks noGrp="1"/>
          </p:cNvSpPr>
          <p:nvPr/>
        </p:nvSpPr>
        <p:spPr>
          <a:xfrm>
            <a:off x="1066800" y="36099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57CB2D2-C76A-4845-A9FF-AE365A2C1E20}"/>
              </a:ext>
            </a:extLst>
          </p:cNvPr>
          <p:cNvSpPr>
            <a:spLocks noGrp="1"/>
          </p:cNvSpPr>
          <p:nvPr/>
        </p:nvSpPr>
        <p:spPr>
          <a:xfrm>
            <a:off x="1619250" y="35909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Production-grade operations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8FBC630-B61B-4D58-8FE1-F893B453B554}"/>
              </a:ext>
            </a:extLst>
          </p:cNvPr>
          <p:cNvSpPr>
            <a:spLocks noGrp="1"/>
          </p:cNvSpPr>
          <p:nvPr/>
        </p:nvSpPr>
        <p:spPr>
          <a:xfrm>
            <a:off x="4953000" y="3609975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Cloud orchestration, health checks, provider redundancy and incident monitoring.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3A8CAC57-39B3-48F2-BDD7-5A8B52A98DDC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1028700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27209CF-0CEE-433E-9AB1-C2670DFFBFF7}"/>
              </a:ext>
            </a:extLst>
          </p:cNvPr>
          <p:cNvSpPr>
            <a:spLocks noGrp="1"/>
          </p:cNvSpPr>
          <p:nvPr/>
        </p:nvSpPr>
        <p:spPr>
          <a:xfrm>
            <a:off x="1066800" y="43529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4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29DA378-8CC6-41FB-A0A8-93FF8CAD884E}"/>
              </a:ext>
            </a:extLst>
          </p:cNvPr>
          <p:cNvSpPr>
            <a:spLocks noGrp="1"/>
          </p:cNvSpPr>
          <p:nvPr/>
        </p:nvSpPr>
        <p:spPr>
          <a:xfrm>
            <a:off x="1619250" y="43338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Productize intelligence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A5606E8-998B-43FC-BE49-6B4C6967AED0}"/>
              </a:ext>
            </a:extLst>
          </p:cNvPr>
          <p:cNvSpPr>
            <a:spLocks noGrp="1"/>
          </p:cNvSpPr>
          <p:nvPr/>
        </p:nvSpPr>
        <p:spPr>
          <a:xfrm>
            <a:off x="4953000" y="4352925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Explainable web analytics, decision audit trails and investor-grade reporting.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6A552475-118F-4A2C-9F5D-14964120F664}"/>
              </a:ext>
            </a:extLst>
          </p:cNvPr>
          <p:cNvSpPr>
            <a:spLocks noGrp="1"/>
          </p:cNvSpPr>
          <p:nvPr/>
        </p:nvSpPr>
        <p:spPr>
          <a:xfrm>
            <a:off x="819150" y="4972050"/>
            <a:ext cx="1028700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BAFA1191-1E59-43F3-8CFB-710D60926022}"/>
              </a:ext>
            </a:extLst>
          </p:cNvPr>
          <p:cNvSpPr>
            <a:spLocks noGrp="1"/>
          </p:cNvSpPr>
          <p:nvPr/>
        </p:nvSpPr>
        <p:spPr>
          <a:xfrm>
            <a:off x="1066800" y="50958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EF4444"/>
                </a:solidFill>
              </a:defRPr>
            </a:pPr>
            <a:r>
              <a:rPr sz="1650" b="1">
                <a:solidFill>
                  <a:srgbClr val="EF4444"/>
                </a:solidFill>
              </a:rPr>
              <a:t>5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643FCD17-4387-45A4-96C2-1DF1CBD50244}"/>
              </a:ext>
            </a:extLst>
          </p:cNvPr>
          <p:cNvSpPr>
            <a:spLocks noGrp="1"/>
          </p:cNvSpPr>
          <p:nvPr/>
        </p:nvSpPr>
        <p:spPr>
          <a:xfrm>
            <a:off x="1619250" y="50768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Scale with control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FE60394-ABFD-4DD1-81BB-D5986EE6B56A}"/>
              </a:ext>
            </a:extLst>
          </p:cNvPr>
          <p:cNvSpPr>
            <a:spLocks noGrp="1"/>
          </p:cNvSpPr>
          <p:nvPr/>
        </p:nvSpPr>
        <p:spPr>
          <a:xfrm>
            <a:off x="4953000" y="5095875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CBD5E1"/>
                </a:solidFill>
              </a:defRPr>
            </a:pPr>
            <a:r>
              <a:rPr sz="1050">
                <a:solidFill>
                  <a:srgbClr val="CBD5E1"/>
                </a:solidFill>
              </a:rPr>
              <a:t>Governance, compliance perimeter and controlled multi-account pilots.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CD04962B-0058-4182-9073-A96F8BD5A81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 dirty="0" err="1">
                <a:solidFill>
                  <a:srgbClr val="94A3B8"/>
                </a:solidFill>
              </a:rPr>
              <a:t>eSEG</a:t>
            </a:r>
            <a:r>
              <a:rPr lang="it-IT" sz="750" dirty="0">
                <a:solidFill>
                  <a:srgbClr val="94A3B8"/>
                </a:solidFill>
              </a:rPr>
              <a:t>u</a:t>
            </a:r>
            <a:r>
              <a:rPr sz="750" dirty="0">
                <a:solidFill>
                  <a:srgbClr val="94A3B8"/>
                </a:solidFill>
              </a:rPr>
              <a:t>E | Investor roadmap | 9 July 2026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F3AF57AF-ABAD-43B9-8C19-B3859501BD32}"/>
              </a:ext>
            </a:extLst>
          </p:cNvPr>
          <p:cNvSpPr>
            <a:spLocks noGrp="1"/>
          </p:cNvSpPr>
          <p:nvPr/>
        </p:nvSpPr>
        <p:spPr>
          <a:xfrm>
            <a:off x="11010900" y="6305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94A3B8"/>
                </a:solidFill>
              </a:defRPr>
            </a:pPr>
            <a:r>
              <a:rPr sz="1050" b="1" dirty="0">
                <a:solidFill>
                  <a:srgbClr val="94A3B8"/>
                </a:solidFill>
              </a:rPr>
              <a:t>0</a:t>
            </a:r>
            <a:r>
              <a:rPr lang="it-IT" sz="1050" b="1" dirty="0">
                <a:solidFill>
                  <a:srgbClr val="94A3B8"/>
                </a:solidFill>
              </a:rPr>
              <a:t>9</a:t>
            </a:r>
            <a:endParaRPr sz="1050" b="1" dirty="0">
              <a:solidFill>
                <a:srgbClr val="94A3B8"/>
              </a:solidFill>
            </a:endParaRP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DF0A76ED-35B8-7945-683A-8069B21EA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28600"/>
            <a:ext cx="2286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782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872</Words>
  <Application>Microsoft Office PowerPoint</Application>
  <DocSecurity>0</DocSecurity>
  <PresentationFormat>Widescreen</PresentationFormat>
  <Paragraphs>192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Bonsignore Francesco (Enel Com B2C)</cp:lastModifiedBy>
  <cp:revision>11</cp:revision>
  <dcterms:created xsi:type="dcterms:W3CDTF">2026-06-24T17:11:31Z</dcterms:created>
  <dcterms:modified xsi:type="dcterms:W3CDTF">2026-07-11T11:44:10Z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7ad33d-ed35-43c0-b526-22bc83c17deb_Enabled">
    <vt:lpwstr>true</vt:lpwstr>
  </property>
  <property fmtid="{D5CDD505-2E9C-101B-9397-08002B2CF9AE}" pid="3" name="MSIP_Label_797ad33d-ed35-43c0-b526-22bc83c17deb_SetDate">
    <vt:lpwstr>2026-06-24T17:12:21Z</vt:lpwstr>
  </property>
  <property fmtid="{D5CDD505-2E9C-101B-9397-08002B2CF9AE}" pid="4" name="MSIP_Label_797ad33d-ed35-43c0-b526-22bc83c17deb_Method">
    <vt:lpwstr>Standard</vt:lpwstr>
  </property>
  <property fmtid="{D5CDD505-2E9C-101B-9397-08002B2CF9AE}" pid="5" name="MSIP_Label_797ad33d-ed35-43c0-b526-22bc83c17deb_Name">
    <vt:lpwstr>797ad33d-ed35-43c0-b526-22bc83c17deb</vt:lpwstr>
  </property>
  <property fmtid="{D5CDD505-2E9C-101B-9397-08002B2CF9AE}" pid="6" name="MSIP_Label_797ad33d-ed35-43c0-b526-22bc83c17deb_SiteId">
    <vt:lpwstr>d539d4bf-5610-471a-afc2-1c76685cfefa</vt:lpwstr>
  </property>
  <property fmtid="{D5CDD505-2E9C-101B-9397-08002B2CF9AE}" pid="7" name="MSIP_Label_797ad33d-ed35-43c0-b526-22bc83c17deb_ActionId">
    <vt:lpwstr>59719462-7088-4a56-b595-2d20fe6392d2</vt:lpwstr>
  </property>
  <property fmtid="{D5CDD505-2E9C-101B-9397-08002B2CF9AE}" pid="8" name="MSIP_Label_797ad33d-ed35-43c0-b526-22bc83c17deb_ContentBits">
    <vt:lpwstr>1</vt:lpwstr>
  </property>
  <property fmtid="{D5CDD505-2E9C-101B-9397-08002B2CF9AE}" pid="9" name="MSIP_Label_797ad33d-ed35-43c0-b526-22bc83c17deb_Tag">
    <vt:lpwstr>10, 3, 0, 1</vt:lpwstr>
  </property>
  <property fmtid="{D5CDD505-2E9C-101B-9397-08002B2CF9AE}" pid="10" name="ClassificationContentMarkingHeaderLocations">
    <vt:lpwstr>ChatGPT:4</vt:lpwstr>
  </property>
  <property fmtid="{D5CDD505-2E9C-101B-9397-08002B2CF9AE}" pid="11" name="ClassificationContentMarkingHeaderText">
    <vt:lpwstr>INTERNAL</vt:lpwstr>
  </property>
</Properties>
</file>